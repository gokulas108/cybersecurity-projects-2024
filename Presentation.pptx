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71" r:id="rId1"/>
  </p:sldMasterIdLst>
  <p:notesMasterIdLst>
    <p:notesMasterId r:id="rId15"/>
  </p:notesMasterIdLst>
  <p:sldIdLst>
    <p:sldId id="267" r:id="rId2"/>
    <p:sldId id="257" r:id="rId3"/>
    <p:sldId id="284" r:id="rId4"/>
    <p:sldId id="283" r:id="rId5"/>
    <p:sldId id="285" r:id="rId6"/>
    <p:sldId id="286" r:id="rId7"/>
    <p:sldId id="287" r:id="rId8"/>
    <p:sldId id="288" r:id="rId9"/>
    <p:sldId id="289" r:id="rId10"/>
    <p:sldId id="290" r:id="rId11"/>
    <p:sldId id="291" r:id="rId12"/>
    <p:sldId id="293" r:id="rId13"/>
    <p:sldId id="29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A922"/>
    <a:srgbClr val="FA2B8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7F1EBD-5531-1F4C-9664-13EE54B54CAF}" type="doc">
      <dgm:prSet loTypeId="urn:microsoft.com/office/officeart/2008/layout/HorizontalMultiLevelHierarchy" loCatId="" qsTypeId="urn:microsoft.com/office/officeart/2005/8/quickstyle/simple5" qsCatId="simple" csTypeId="urn:microsoft.com/office/officeart/2005/8/colors/colorful2" csCatId="colorful" phldr="1"/>
      <dgm:spPr/>
      <dgm:t>
        <a:bodyPr/>
        <a:lstStyle/>
        <a:p>
          <a:endParaRPr lang="en-US"/>
        </a:p>
      </dgm:t>
    </dgm:pt>
    <dgm:pt modelId="{D5CCC906-5FDD-5344-8214-BA12F5826BD1}">
      <dgm:prSet phldrT="[Text]" custT="1"/>
      <dgm:spPr/>
      <dgm:t>
        <a:bodyPr/>
        <a:lstStyle/>
        <a:p>
          <a:pPr rtl="0"/>
          <a:r>
            <a:rPr lang="en-US" sz="3200"/>
            <a:t>IDS</a:t>
          </a:r>
        </a:p>
      </dgm:t>
    </dgm:pt>
    <dgm:pt modelId="{D037E0F4-C48C-AA44-B155-65EA9768DD45}" type="parTrans" cxnId="{492C721D-AE68-454A-974A-75DCDBDBDEC0}">
      <dgm:prSet/>
      <dgm:spPr/>
      <dgm:t>
        <a:bodyPr/>
        <a:lstStyle/>
        <a:p>
          <a:endParaRPr lang="en-US" sz="1200"/>
        </a:p>
      </dgm:t>
    </dgm:pt>
    <dgm:pt modelId="{33CF4C16-3FE3-8C47-8114-4D1C9A8138BF}" type="sibTrans" cxnId="{492C721D-AE68-454A-974A-75DCDBDBDEC0}">
      <dgm:prSet/>
      <dgm:spPr/>
      <dgm:t>
        <a:bodyPr/>
        <a:lstStyle/>
        <a:p>
          <a:endParaRPr lang="en-US" sz="1200"/>
        </a:p>
      </dgm:t>
    </dgm:pt>
    <dgm:pt modelId="{092A43D7-032F-6442-BFD6-DF5F3950811F}">
      <dgm:prSet phldrT="[Text]" custT="1"/>
      <dgm:spPr/>
      <dgm:t>
        <a:bodyPr/>
        <a:lstStyle/>
        <a:p>
          <a:pPr rtl="0"/>
          <a:r>
            <a:rPr lang="en-US" sz="1600"/>
            <a:t>Anomaly Detector</a:t>
          </a:r>
        </a:p>
      </dgm:t>
    </dgm:pt>
    <dgm:pt modelId="{198EF00C-B38D-244C-833F-1729C1CDEC1F}" type="parTrans" cxnId="{54796C82-C61B-954E-AEDB-4E85C39A4AE5}">
      <dgm:prSet custT="1"/>
      <dgm:spPr/>
      <dgm:t>
        <a:bodyPr/>
        <a:lstStyle/>
        <a:p>
          <a:endParaRPr lang="en-US" sz="200"/>
        </a:p>
      </dgm:t>
    </dgm:pt>
    <dgm:pt modelId="{C0CC3364-8F4B-4F4E-8178-56525B8C21CB}" type="sibTrans" cxnId="{54796C82-C61B-954E-AEDB-4E85C39A4AE5}">
      <dgm:prSet/>
      <dgm:spPr/>
      <dgm:t>
        <a:bodyPr/>
        <a:lstStyle/>
        <a:p>
          <a:endParaRPr lang="en-US" sz="1200"/>
        </a:p>
      </dgm:t>
    </dgm:pt>
    <dgm:pt modelId="{1A2752FE-4DDE-EA4C-9C87-474473B4C0C2}">
      <dgm:prSet phldrT="[Text]" custT="1"/>
      <dgm:spPr/>
      <dgm:t>
        <a:bodyPr/>
        <a:lstStyle/>
        <a:p>
          <a:pPr rtl="0"/>
          <a:r>
            <a:rPr lang="en-US" sz="1600"/>
            <a:t>Attack Classifier</a:t>
          </a:r>
        </a:p>
      </dgm:t>
    </dgm:pt>
    <dgm:pt modelId="{FBA466A7-CE8E-AD41-8CBC-4CC59627B920}" type="parTrans" cxnId="{9BAE8E3F-3651-164D-8042-DE7D40E07F58}">
      <dgm:prSet custT="1"/>
      <dgm:spPr/>
      <dgm:t>
        <a:bodyPr/>
        <a:lstStyle/>
        <a:p>
          <a:endParaRPr lang="en-US" sz="200"/>
        </a:p>
      </dgm:t>
    </dgm:pt>
    <dgm:pt modelId="{1AA2A566-0235-6F4B-8D50-AAB5030693C6}" type="sibTrans" cxnId="{9BAE8E3F-3651-164D-8042-DE7D40E07F58}">
      <dgm:prSet/>
      <dgm:spPr/>
      <dgm:t>
        <a:bodyPr/>
        <a:lstStyle/>
        <a:p>
          <a:endParaRPr lang="en-US" sz="1200"/>
        </a:p>
      </dgm:t>
    </dgm:pt>
    <dgm:pt modelId="{EC811879-C93D-934B-B5D9-84FDFCF272E8}">
      <dgm:prSet phldrT="[Text]" custT="1"/>
      <dgm:spPr/>
      <dgm:t>
        <a:bodyPr/>
        <a:lstStyle/>
        <a:p>
          <a:pPr rtl="0"/>
          <a:r>
            <a:rPr lang="en-US" sz="1600"/>
            <a:t>Zero-day attack classifier</a:t>
          </a:r>
        </a:p>
      </dgm:t>
    </dgm:pt>
    <dgm:pt modelId="{92954254-ACC1-2643-B0C1-6BB723CEB7E8}" type="parTrans" cxnId="{A5B3B9FC-A461-BC4A-849E-7F0B85CBC758}">
      <dgm:prSet custT="1"/>
      <dgm:spPr/>
      <dgm:t>
        <a:bodyPr/>
        <a:lstStyle/>
        <a:p>
          <a:endParaRPr lang="en-US" sz="200"/>
        </a:p>
      </dgm:t>
    </dgm:pt>
    <dgm:pt modelId="{D5DB7F92-9035-2043-B818-1D16C9AED725}" type="sibTrans" cxnId="{A5B3B9FC-A461-BC4A-849E-7F0B85CBC758}">
      <dgm:prSet/>
      <dgm:spPr/>
      <dgm:t>
        <a:bodyPr/>
        <a:lstStyle/>
        <a:p>
          <a:endParaRPr lang="en-US" sz="1200"/>
        </a:p>
      </dgm:t>
    </dgm:pt>
    <dgm:pt modelId="{F48BF18B-AE63-8048-A779-CCDCBC2BD920}" type="pres">
      <dgm:prSet presAssocID="{C47F1EBD-5531-1F4C-9664-13EE54B54CAF}" presName="Name0" presStyleCnt="0">
        <dgm:presLayoutVars>
          <dgm:chPref val="1"/>
          <dgm:dir/>
          <dgm:animOne val="branch"/>
          <dgm:animLvl val="lvl"/>
          <dgm:resizeHandles val="exact"/>
        </dgm:presLayoutVars>
      </dgm:prSet>
      <dgm:spPr/>
    </dgm:pt>
    <dgm:pt modelId="{FF37DC49-B012-6D4C-A358-759416F6E3BB}" type="pres">
      <dgm:prSet presAssocID="{D5CCC906-5FDD-5344-8214-BA12F5826BD1}" presName="root1" presStyleCnt="0"/>
      <dgm:spPr/>
    </dgm:pt>
    <dgm:pt modelId="{02FFD889-1152-8147-9931-8A0218B7FD19}" type="pres">
      <dgm:prSet presAssocID="{D5CCC906-5FDD-5344-8214-BA12F5826BD1}" presName="LevelOneTextNode" presStyleLbl="node0" presStyleIdx="0" presStyleCnt="1">
        <dgm:presLayoutVars>
          <dgm:chPref val="3"/>
        </dgm:presLayoutVars>
      </dgm:prSet>
      <dgm:spPr/>
    </dgm:pt>
    <dgm:pt modelId="{3DAB3841-7B25-DF4E-BEE2-564A03D51D70}" type="pres">
      <dgm:prSet presAssocID="{D5CCC906-5FDD-5344-8214-BA12F5826BD1}" presName="level2hierChild" presStyleCnt="0"/>
      <dgm:spPr/>
    </dgm:pt>
    <dgm:pt modelId="{F71DB9B3-DF02-054C-8073-8F1FF5E87380}" type="pres">
      <dgm:prSet presAssocID="{198EF00C-B38D-244C-833F-1729C1CDEC1F}" presName="conn2-1" presStyleLbl="parChTrans1D2" presStyleIdx="0" presStyleCnt="3"/>
      <dgm:spPr/>
    </dgm:pt>
    <dgm:pt modelId="{1D4A1211-5A86-2847-9317-E0082F534656}" type="pres">
      <dgm:prSet presAssocID="{198EF00C-B38D-244C-833F-1729C1CDEC1F}" presName="connTx" presStyleLbl="parChTrans1D2" presStyleIdx="0" presStyleCnt="3"/>
      <dgm:spPr/>
    </dgm:pt>
    <dgm:pt modelId="{CDA140F7-9794-0649-9942-EC351576374C}" type="pres">
      <dgm:prSet presAssocID="{092A43D7-032F-6442-BFD6-DF5F3950811F}" presName="root2" presStyleCnt="0"/>
      <dgm:spPr/>
    </dgm:pt>
    <dgm:pt modelId="{4773F6B6-68A7-164B-AB2F-1A2F2289E074}" type="pres">
      <dgm:prSet presAssocID="{092A43D7-032F-6442-BFD6-DF5F3950811F}" presName="LevelTwoTextNode" presStyleLbl="node2" presStyleIdx="0" presStyleCnt="3">
        <dgm:presLayoutVars>
          <dgm:chPref val="3"/>
        </dgm:presLayoutVars>
      </dgm:prSet>
      <dgm:spPr/>
    </dgm:pt>
    <dgm:pt modelId="{ECEB5479-F178-6E4D-8B4D-071F19D7ED6C}" type="pres">
      <dgm:prSet presAssocID="{092A43D7-032F-6442-BFD6-DF5F3950811F}" presName="level3hierChild" presStyleCnt="0"/>
      <dgm:spPr/>
    </dgm:pt>
    <dgm:pt modelId="{1FD150EE-122A-8C49-A57F-8F276B09E594}" type="pres">
      <dgm:prSet presAssocID="{FBA466A7-CE8E-AD41-8CBC-4CC59627B920}" presName="conn2-1" presStyleLbl="parChTrans1D2" presStyleIdx="1" presStyleCnt="3"/>
      <dgm:spPr/>
    </dgm:pt>
    <dgm:pt modelId="{8C71995C-0B4D-E345-82C5-32E7F5EE498B}" type="pres">
      <dgm:prSet presAssocID="{FBA466A7-CE8E-AD41-8CBC-4CC59627B920}" presName="connTx" presStyleLbl="parChTrans1D2" presStyleIdx="1" presStyleCnt="3"/>
      <dgm:spPr/>
    </dgm:pt>
    <dgm:pt modelId="{B81F14A8-D5A7-3C4E-8FDC-4255AB26B665}" type="pres">
      <dgm:prSet presAssocID="{1A2752FE-4DDE-EA4C-9C87-474473B4C0C2}" presName="root2" presStyleCnt="0"/>
      <dgm:spPr/>
    </dgm:pt>
    <dgm:pt modelId="{E7D6444F-F7C3-5D4E-9A0A-0256C9198EDC}" type="pres">
      <dgm:prSet presAssocID="{1A2752FE-4DDE-EA4C-9C87-474473B4C0C2}" presName="LevelTwoTextNode" presStyleLbl="node2" presStyleIdx="1" presStyleCnt="3">
        <dgm:presLayoutVars>
          <dgm:chPref val="3"/>
        </dgm:presLayoutVars>
      </dgm:prSet>
      <dgm:spPr/>
    </dgm:pt>
    <dgm:pt modelId="{13EB6BC5-C5E3-F44F-B5F1-CA61624D1772}" type="pres">
      <dgm:prSet presAssocID="{1A2752FE-4DDE-EA4C-9C87-474473B4C0C2}" presName="level3hierChild" presStyleCnt="0"/>
      <dgm:spPr/>
    </dgm:pt>
    <dgm:pt modelId="{538264EF-93A0-7549-AD95-B413010D332A}" type="pres">
      <dgm:prSet presAssocID="{92954254-ACC1-2643-B0C1-6BB723CEB7E8}" presName="conn2-1" presStyleLbl="parChTrans1D2" presStyleIdx="2" presStyleCnt="3"/>
      <dgm:spPr/>
    </dgm:pt>
    <dgm:pt modelId="{333C0B74-FBE3-1B40-B322-CE3A1091BD9C}" type="pres">
      <dgm:prSet presAssocID="{92954254-ACC1-2643-B0C1-6BB723CEB7E8}" presName="connTx" presStyleLbl="parChTrans1D2" presStyleIdx="2" presStyleCnt="3"/>
      <dgm:spPr/>
    </dgm:pt>
    <dgm:pt modelId="{8880A8DB-1D4D-0840-97FB-4CCCFDBA425D}" type="pres">
      <dgm:prSet presAssocID="{EC811879-C93D-934B-B5D9-84FDFCF272E8}" presName="root2" presStyleCnt="0"/>
      <dgm:spPr/>
    </dgm:pt>
    <dgm:pt modelId="{A0769E53-C56E-5C49-AFD3-3649DBFF7AF0}" type="pres">
      <dgm:prSet presAssocID="{EC811879-C93D-934B-B5D9-84FDFCF272E8}" presName="LevelTwoTextNode" presStyleLbl="node2" presStyleIdx="2" presStyleCnt="3">
        <dgm:presLayoutVars>
          <dgm:chPref val="3"/>
        </dgm:presLayoutVars>
      </dgm:prSet>
      <dgm:spPr/>
    </dgm:pt>
    <dgm:pt modelId="{27756E41-9A37-8D44-96FD-AC2994A8F9F3}" type="pres">
      <dgm:prSet presAssocID="{EC811879-C93D-934B-B5D9-84FDFCF272E8}" presName="level3hierChild" presStyleCnt="0"/>
      <dgm:spPr/>
    </dgm:pt>
  </dgm:ptLst>
  <dgm:cxnLst>
    <dgm:cxn modelId="{825A500D-0D95-B145-9155-2C5CDE1885F6}" type="presOf" srcId="{198EF00C-B38D-244C-833F-1729C1CDEC1F}" destId="{1D4A1211-5A86-2847-9317-E0082F534656}" srcOrd="1" destOrd="0" presId="urn:microsoft.com/office/officeart/2008/layout/HorizontalMultiLevelHierarchy"/>
    <dgm:cxn modelId="{492C721D-AE68-454A-974A-75DCDBDBDEC0}" srcId="{C47F1EBD-5531-1F4C-9664-13EE54B54CAF}" destId="{D5CCC906-5FDD-5344-8214-BA12F5826BD1}" srcOrd="0" destOrd="0" parTransId="{D037E0F4-C48C-AA44-B155-65EA9768DD45}" sibTransId="{33CF4C16-3FE3-8C47-8114-4D1C9A8138BF}"/>
    <dgm:cxn modelId="{37DAF626-6A7D-914B-9BA8-A6DDE8725294}" type="presOf" srcId="{C47F1EBD-5531-1F4C-9664-13EE54B54CAF}" destId="{F48BF18B-AE63-8048-A779-CCDCBC2BD920}" srcOrd="0" destOrd="0" presId="urn:microsoft.com/office/officeart/2008/layout/HorizontalMultiLevelHierarchy"/>
    <dgm:cxn modelId="{85E20627-C658-8341-88C4-3E08F888F16A}" type="presOf" srcId="{92954254-ACC1-2643-B0C1-6BB723CEB7E8}" destId="{538264EF-93A0-7549-AD95-B413010D332A}" srcOrd="0" destOrd="0" presId="urn:microsoft.com/office/officeart/2008/layout/HorizontalMultiLevelHierarchy"/>
    <dgm:cxn modelId="{850DAC28-07DD-744D-B784-F1D8DCF9A89D}" type="presOf" srcId="{92954254-ACC1-2643-B0C1-6BB723CEB7E8}" destId="{333C0B74-FBE3-1B40-B322-CE3A1091BD9C}" srcOrd="1" destOrd="0" presId="urn:microsoft.com/office/officeart/2008/layout/HorizontalMultiLevelHierarchy"/>
    <dgm:cxn modelId="{9BAE8E3F-3651-164D-8042-DE7D40E07F58}" srcId="{D5CCC906-5FDD-5344-8214-BA12F5826BD1}" destId="{1A2752FE-4DDE-EA4C-9C87-474473B4C0C2}" srcOrd="1" destOrd="0" parTransId="{FBA466A7-CE8E-AD41-8CBC-4CC59627B920}" sibTransId="{1AA2A566-0235-6F4B-8D50-AAB5030693C6}"/>
    <dgm:cxn modelId="{B17A2945-7C73-314E-AFB1-6C8A7A2B3D36}" type="presOf" srcId="{EC811879-C93D-934B-B5D9-84FDFCF272E8}" destId="{A0769E53-C56E-5C49-AFD3-3649DBFF7AF0}" srcOrd="0" destOrd="0" presId="urn:microsoft.com/office/officeart/2008/layout/HorizontalMultiLevelHierarchy"/>
    <dgm:cxn modelId="{839F875C-92F4-C545-A50C-64E164B49066}" type="presOf" srcId="{1A2752FE-4DDE-EA4C-9C87-474473B4C0C2}" destId="{E7D6444F-F7C3-5D4E-9A0A-0256C9198EDC}" srcOrd="0" destOrd="0" presId="urn:microsoft.com/office/officeart/2008/layout/HorizontalMultiLevelHierarchy"/>
    <dgm:cxn modelId="{29452864-128A-7645-A0A2-35A973C2FC96}" type="presOf" srcId="{D5CCC906-5FDD-5344-8214-BA12F5826BD1}" destId="{02FFD889-1152-8147-9931-8A0218B7FD19}" srcOrd="0" destOrd="0" presId="urn:microsoft.com/office/officeart/2008/layout/HorizontalMultiLevelHierarchy"/>
    <dgm:cxn modelId="{E154BE78-F659-7447-8815-576F023D9F46}" type="presOf" srcId="{FBA466A7-CE8E-AD41-8CBC-4CC59627B920}" destId="{8C71995C-0B4D-E345-82C5-32E7F5EE498B}" srcOrd="1" destOrd="0" presId="urn:microsoft.com/office/officeart/2008/layout/HorizontalMultiLevelHierarchy"/>
    <dgm:cxn modelId="{BFD4FF81-1779-DB44-A646-992C8DF4186A}" type="presOf" srcId="{092A43D7-032F-6442-BFD6-DF5F3950811F}" destId="{4773F6B6-68A7-164B-AB2F-1A2F2289E074}" srcOrd="0" destOrd="0" presId="urn:microsoft.com/office/officeart/2008/layout/HorizontalMultiLevelHierarchy"/>
    <dgm:cxn modelId="{54796C82-C61B-954E-AEDB-4E85C39A4AE5}" srcId="{D5CCC906-5FDD-5344-8214-BA12F5826BD1}" destId="{092A43D7-032F-6442-BFD6-DF5F3950811F}" srcOrd="0" destOrd="0" parTransId="{198EF00C-B38D-244C-833F-1729C1CDEC1F}" sibTransId="{C0CC3364-8F4B-4F4E-8178-56525B8C21CB}"/>
    <dgm:cxn modelId="{3344E3B5-97D4-8E43-9066-030C83BA35E5}" type="presOf" srcId="{198EF00C-B38D-244C-833F-1729C1CDEC1F}" destId="{F71DB9B3-DF02-054C-8073-8F1FF5E87380}" srcOrd="0" destOrd="0" presId="urn:microsoft.com/office/officeart/2008/layout/HorizontalMultiLevelHierarchy"/>
    <dgm:cxn modelId="{4263C0CD-5107-A942-9697-435983263EB5}" type="presOf" srcId="{FBA466A7-CE8E-AD41-8CBC-4CC59627B920}" destId="{1FD150EE-122A-8C49-A57F-8F276B09E594}" srcOrd="0" destOrd="0" presId="urn:microsoft.com/office/officeart/2008/layout/HorizontalMultiLevelHierarchy"/>
    <dgm:cxn modelId="{A5B3B9FC-A461-BC4A-849E-7F0B85CBC758}" srcId="{D5CCC906-5FDD-5344-8214-BA12F5826BD1}" destId="{EC811879-C93D-934B-B5D9-84FDFCF272E8}" srcOrd="2" destOrd="0" parTransId="{92954254-ACC1-2643-B0C1-6BB723CEB7E8}" sibTransId="{D5DB7F92-9035-2043-B818-1D16C9AED725}"/>
    <dgm:cxn modelId="{29D8D88E-CFE2-AA45-B812-3BA3238EDA35}" type="presParOf" srcId="{F48BF18B-AE63-8048-A779-CCDCBC2BD920}" destId="{FF37DC49-B012-6D4C-A358-759416F6E3BB}" srcOrd="0" destOrd="0" presId="urn:microsoft.com/office/officeart/2008/layout/HorizontalMultiLevelHierarchy"/>
    <dgm:cxn modelId="{EE1A9FEA-DAA5-D14D-8A08-E46A0A264998}" type="presParOf" srcId="{FF37DC49-B012-6D4C-A358-759416F6E3BB}" destId="{02FFD889-1152-8147-9931-8A0218B7FD19}" srcOrd="0" destOrd="0" presId="urn:microsoft.com/office/officeart/2008/layout/HorizontalMultiLevelHierarchy"/>
    <dgm:cxn modelId="{706FAA6F-1A37-BC49-9671-8B7344CA4FFE}" type="presParOf" srcId="{FF37DC49-B012-6D4C-A358-759416F6E3BB}" destId="{3DAB3841-7B25-DF4E-BEE2-564A03D51D70}" srcOrd="1" destOrd="0" presId="urn:microsoft.com/office/officeart/2008/layout/HorizontalMultiLevelHierarchy"/>
    <dgm:cxn modelId="{0D7FD860-ADD1-164E-8DD4-F4DE70F5D344}" type="presParOf" srcId="{3DAB3841-7B25-DF4E-BEE2-564A03D51D70}" destId="{F71DB9B3-DF02-054C-8073-8F1FF5E87380}" srcOrd="0" destOrd="0" presId="urn:microsoft.com/office/officeart/2008/layout/HorizontalMultiLevelHierarchy"/>
    <dgm:cxn modelId="{2FA0AFDB-E908-2D4A-938A-74EDE8E2E163}" type="presParOf" srcId="{F71DB9B3-DF02-054C-8073-8F1FF5E87380}" destId="{1D4A1211-5A86-2847-9317-E0082F534656}" srcOrd="0" destOrd="0" presId="urn:microsoft.com/office/officeart/2008/layout/HorizontalMultiLevelHierarchy"/>
    <dgm:cxn modelId="{3B7D6C59-A73E-FF4D-8889-B2A81C90E243}" type="presParOf" srcId="{3DAB3841-7B25-DF4E-BEE2-564A03D51D70}" destId="{CDA140F7-9794-0649-9942-EC351576374C}" srcOrd="1" destOrd="0" presId="urn:microsoft.com/office/officeart/2008/layout/HorizontalMultiLevelHierarchy"/>
    <dgm:cxn modelId="{16EA4C56-A770-B146-9140-1823FCD8C5B8}" type="presParOf" srcId="{CDA140F7-9794-0649-9942-EC351576374C}" destId="{4773F6B6-68A7-164B-AB2F-1A2F2289E074}" srcOrd="0" destOrd="0" presId="urn:microsoft.com/office/officeart/2008/layout/HorizontalMultiLevelHierarchy"/>
    <dgm:cxn modelId="{8F0186C0-C59A-0747-9885-ED86089323A2}" type="presParOf" srcId="{CDA140F7-9794-0649-9942-EC351576374C}" destId="{ECEB5479-F178-6E4D-8B4D-071F19D7ED6C}" srcOrd="1" destOrd="0" presId="urn:microsoft.com/office/officeart/2008/layout/HorizontalMultiLevelHierarchy"/>
    <dgm:cxn modelId="{F04B19B1-B35F-EB4F-99D2-F791D4E6AC34}" type="presParOf" srcId="{3DAB3841-7B25-DF4E-BEE2-564A03D51D70}" destId="{1FD150EE-122A-8C49-A57F-8F276B09E594}" srcOrd="2" destOrd="0" presId="urn:microsoft.com/office/officeart/2008/layout/HorizontalMultiLevelHierarchy"/>
    <dgm:cxn modelId="{6F8738D2-13FA-AB42-8C77-DC9C4E1D28BE}" type="presParOf" srcId="{1FD150EE-122A-8C49-A57F-8F276B09E594}" destId="{8C71995C-0B4D-E345-82C5-32E7F5EE498B}" srcOrd="0" destOrd="0" presId="urn:microsoft.com/office/officeart/2008/layout/HorizontalMultiLevelHierarchy"/>
    <dgm:cxn modelId="{7585D668-9ABF-874B-8BE6-456B5D7046E9}" type="presParOf" srcId="{3DAB3841-7B25-DF4E-BEE2-564A03D51D70}" destId="{B81F14A8-D5A7-3C4E-8FDC-4255AB26B665}" srcOrd="3" destOrd="0" presId="urn:microsoft.com/office/officeart/2008/layout/HorizontalMultiLevelHierarchy"/>
    <dgm:cxn modelId="{F4F2D7EF-364C-9A46-9965-95CD5AE690D0}" type="presParOf" srcId="{B81F14A8-D5A7-3C4E-8FDC-4255AB26B665}" destId="{E7D6444F-F7C3-5D4E-9A0A-0256C9198EDC}" srcOrd="0" destOrd="0" presId="urn:microsoft.com/office/officeart/2008/layout/HorizontalMultiLevelHierarchy"/>
    <dgm:cxn modelId="{22E8AD0A-B10E-A948-A7F6-1AA6E8B308C6}" type="presParOf" srcId="{B81F14A8-D5A7-3C4E-8FDC-4255AB26B665}" destId="{13EB6BC5-C5E3-F44F-B5F1-CA61624D1772}" srcOrd="1" destOrd="0" presId="urn:microsoft.com/office/officeart/2008/layout/HorizontalMultiLevelHierarchy"/>
    <dgm:cxn modelId="{0D955F98-6AD8-DD4C-8C73-A2E4F999C5F0}" type="presParOf" srcId="{3DAB3841-7B25-DF4E-BEE2-564A03D51D70}" destId="{538264EF-93A0-7549-AD95-B413010D332A}" srcOrd="4" destOrd="0" presId="urn:microsoft.com/office/officeart/2008/layout/HorizontalMultiLevelHierarchy"/>
    <dgm:cxn modelId="{1152DC99-8808-3F48-A164-C583075F7A35}" type="presParOf" srcId="{538264EF-93A0-7549-AD95-B413010D332A}" destId="{333C0B74-FBE3-1B40-B322-CE3A1091BD9C}" srcOrd="0" destOrd="0" presId="urn:microsoft.com/office/officeart/2008/layout/HorizontalMultiLevelHierarchy"/>
    <dgm:cxn modelId="{C5DD3C52-0A36-5048-BE0E-328FC7BB96C1}" type="presParOf" srcId="{3DAB3841-7B25-DF4E-BEE2-564A03D51D70}" destId="{8880A8DB-1D4D-0840-97FB-4CCCFDBA425D}" srcOrd="5" destOrd="0" presId="urn:microsoft.com/office/officeart/2008/layout/HorizontalMultiLevelHierarchy"/>
    <dgm:cxn modelId="{0C6D1E7F-681A-B84E-91C1-BD93E19248B1}" type="presParOf" srcId="{8880A8DB-1D4D-0840-97FB-4CCCFDBA425D}" destId="{A0769E53-C56E-5C49-AFD3-3649DBFF7AF0}" srcOrd="0" destOrd="0" presId="urn:microsoft.com/office/officeart/2008/layout/HorizontalMultiLevelHierarchy"/>
    <dgm:cxn modelId="{2D29F59D-CFAA-FD4B-848E-6EEE2CA9D29A}" type="presParOf" srcId="{8880A8DB-1D4D-0840-97FB-4CCCFDBA425D}" destId="{27756E41-9A37-8D44-96FD-AC2994A8F9F3}"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32FAC6-5EA8-3645-B0D9-6160021AF1A6}" type="doc">
      <dgm:prSet loTypeId="urn:microsoft.com/office/officeart/2009/3/layout/CircleRelationship" loCatId="" qsTypeId="urn:microsoft.com/office/officeart/2005/8/quickstyle/simple5" qsCatId="simple" csTypeId="urn:microsoft.com/office/officeart/2005/8/colors/accent1_2" csCatId="accent1" phldr="1"/>
      <dgm:spPr/>
      <dgm:t>
        <a:bodyPr/>
        <a:lstStyle/>
        <a:p>
          <a:endParaRPr lang="en-US"/>
        </a:p>
      </dgm:t>
    </dgm:pt>
    <dgm:pt modelId="{03CF468F-0A2F-C644-9888-42E232A66B2C}">
      <dgm:prSet phldrT="[Text]"/>
      <dgm:spPr/>
      <dgm:t>
        <a:bodyPr/>
        <a:lstStyle/>
        <a:p>
          <a:pPr rtl="0"/>
          <a:r>
            <a:rPr lang="en-US" b="1" i="0"/>
            <a:t>WUSTL-IIOT-2021</a:t>
          </a:r>
          <a:endParaRPr lang="en-US"/>
        </a:p>
      </dgm:t>
    </dgm:pt>
    <dgm:pt modelId="{D47E2EA1-24A5-014C-9954-BB167D61091F}" type="parTrans" cxnId="{2A02F7E8-BAAA-0E40-A08F-9085F472A6B6}">
      <dgm:prSet/>
      <dgm:spPr/>
      <dgm:t>
        <a:bodyPr/>
        <a:lstStyle/>
        <a:p>
          <a:endParaRPr lang="en-US"/>
        </a:p>
      </dgm:t>
    </dgm:pt>
    <dgm:pt modelId="{64C3D506-D8FA-4049-BC6D-8DF1C052360E}" type="sibTrans" cxnId="{2A02F7E8-BAAA-0E40-A08F-9085F472A6B6}">
      <dgm:prSet/>
      <dgm:spPr/>
      <dgm:t>
        <a:bodyPr/>
        <a:lstStyle/>
        <a:p>
          <a:endParaRPr lang="en-US"/>
        </a:p>
      </dgm:t>
    </dgm:pt>
    <dgm:pt modelId="{A53112E8-C314-4E42-8201-ECB5CBCEA5B5}">
      <dgm:prSet phldrT="[Text]" custT="1"/>
      <dgm:spPr/>
      <dgm:t>
        <a:bodyPr/>
        <a:lstStyle/>
        <a:p>
          <a:pPr rtl="0"/>
          <a:r>
            <a:rPr lang="en-US" sz="1200"/>
            <a:t>CICIDS2017</a:t>
          </a:r>
        </a:p>
      </dgm:t>
    </dgm:pt>
    <dgm:pt modelId="{D1F271CE-6ACC-E645-A1A7-5280E3232AFC}" type="parTrans" cxnId="{8637C3A0-927D-324C-B1F5-0888CCAD2B74}">
      <dgm:prSet/>
      <dgm:spPr/>
      <dgm:t>
        <a:bodyPr/>
        <a:lstStyle/>
        <a:p>
          <a:endParaRPr lang="en-US"/>
        </a:p>
      </dgm:t>
    </dgm:pt>
    <dgm:pt modelId="{D366DF77-3153-8E44-8BEA-0105A0B06E74}" type="sibTrans" cxnId="{8637C3A0-927D-324C-B1F5-0888CCAD2B74}">
      <dgm:prSet/>
      <dgm:spPr/>
      <dgm:t>
        <a:bodyPr/>
        <a:lstStyle/>
        <a:p>
          <a:endParaRPr lang="en-US"/>
        </a:p>
      </dgm:t>
    </dgm:pt>
    <dgm:pt modelId="{F5E3573F-2C0D-9E43-AB20-91B94D876929}">
      <dgm:prSet phldrT="[Text]" custT="1"/>
      <dgm:spPr/>
      <dgm:t>
        <a:bodyPr/>
        <a:lstStyle/>
        <a:p>
          <a:r>
            <a:rPr lang="en-US" sz="1200"/>
            <a:t>CICIDS2018</a:t>
          </a:r>
          <a:endParaRPr lang="en-US" sz="800"/>
        </a:p>
      </dgm:t>
    </dgm:pt>
    <dgm:pt modelId="{9A020198-D816-4947-A41D-4EB10F306616}" type="parTrans" cxnId="{E901C1CD-B5D1-4F48-807C-4E8C70C82E1F}">
      <dgm:prSet/>
      <dgm:spPr/>
      <dgm:t>
        <a:bodyPr/>
        <a:lstStyle/>
        <a:p>
          <a:endParaRPr lang="en-US"/>
        </a:p>
      </dgm:t>
    </dgm:pt>
    <dgm:pt modelId="{7C5260F0-CFCC-B843-A84A-C0B58BE8C45F}" type="sibTrans" cxnId="{E901C1CD-B5D1-4F48-807C-4E8C70C82E1F}">
      <dgm:prSet/>
      <dgm:spPr/>
      <dgm:t>
        <a:bodyPr/>
        <a:lstStyle/>
        <a:p>
          <a:endParaRPr lang="en-US"/>
        </a:p>
      </dgm:t>
    </dgm:pt>
    <dgm:pt modelId="{C8D8C63B-8E03-C24D-BCBB-79A5AEFAA8E8}" type="pres">
      <dgm:prSet presAssocID="{A132FAC6-5EA8-3645-B0D9-6160021AF1A6}" presName="Name0" presStyleCnt="0">
        <dgm:presLayoutVars>
          <dgm:chMax val="1"/>
          <dgm:chPref val="1"/>
        </dgm:presLayoutVars>
      </dgm:prSet>
      <dgm:spPr/>
    </dgm:pt>
    <dgm:pt modelId="{F0E7C285-B0DD-C640-899D-59442D14EB8F}" type="pres">
      <dgm:prSet presAssocID="{03CF468F-0A2F-C644-9888-42E232A66B2C}" presName="Parent" presStyleLbl="node0" presStyleIdx="0" presStyleCnt="1" custScaleX="38011" custScaleY="38769">
        <dgm:presLayoutVars>
          <dgm:chMax val="5"/>
          <dgm:chPref val="5"/>
        </dgm:presLayoutVars>
      </dgm:prSet>
      <dgm:spPr/>
    </dgm:pt>
    <dgm:pt modelId="{869D2B22-D27F-5B48-A2C8-14C650E7B9D8}" type="pres">
      <dgm:prSet presAssocID="{03CF468F-0A2F-C644-9888-42E232A66B2C}" presName="Accent1" presStyleLbl="node1" presStyleIdx="0" presStyleCnt="13"/>
      <dgm:spPr/>
    </dgm:pt>
    <dgm:pt modelId="{6C8A20FF-A2CD-7845-BF72-701FD5741FFF}" type="pres">
      <dgm:prSet presAssocID="{03CF468F-0A2F-C644-9888-42E232A66B2C}" presName="Accent2" presStyleLbl="node1" presStyleIdx="1" presStyleCnt="13"/>
      <dgm:spPr/>
    </dgm:pt>
    <dgm:pt modelId="{95CFF5F4-F91F-BA46-A088-DDC6D5DF5524}" type="pres">
      <dgm:prSet presAssocID="{03CF468F-0A2F-C644-9888-42E232A66B2C}" presName="Accent3" presStyleLbl="node1" presStyleIdx="2" presStyleCnt="13"/>
      <dgm:spPr/>
    </dgm:pt>
    <dgm:pt modelId="{81D10380-336A-D040-907B-2159DBB647C2}" type="pres">
      <dgm:prSet presAssocID="{03CF468F-0A2F-C644-9888-42E232A66B2C}" presName="Accent4" presStyleLbl="node1" presStyleIdx="3" presStyleCnt="13"/>
      <dgm:spPr/>
    </dgm:pt>
    <dgm:pt modelId="{EA150E00-D914-E544-BEC1-832FF542BB38}" type="pres">
      <dgm:prSet presAssocID="{03CF468F-0A2F-C644-9888-42E232A66B2C}" presName="Accent5" presStyleLbl="node1" presStyleIdx="4" presStyleCnt="13"/>
      <dgm:spPr/>
    </dgm:pt>
    <dgm:pt modelId="{859D6E87-F509-DC4C-B4B9-05CF0F4F6C4F}" type="pres">
      <dgm:prSet presAssocID="{03CF468F-0A2F-C644-9888-42E232A66B2C}" presName="Accent6" presStyleLbl="node1" presStyleIdx="5" presStyleCnt="13"/>
      <dgm:spPr/>
    </dgm:pt>
    <dgm:pt modelId="{9917F614-5443-2040-952F-2B4B346FE418}" type="pres">
      <dgm:prSet presAssocID="{A53112E8-C314-4E42-8201-ECB5CBCEA5B5}" presName="Child1" presStyleLbl="node1" presStyleIdx="6" presStyleCnt="13">
        <dgm:presLayoutVars>
          <dgm:chMax val="0"/>
          <dgm:chPref val="0"/>
        </dgm:presLayoutVars>
      </dgm:prSet>
      <dgm:spPr/>
    </dgm:pt>
    <dgm:pt modelId="{EE8973D9-6CD0-4E49-9D2E-9933F0908D7A}" type="pres">
      <dgm:prSet presAssocID="{A53112E8-C314-4E42-8201-ECB5CBCEA5B5}" presName="Accent7" presStyleCnt="0"/>
      <dgm:spPr/>
    </dgm:pt>
    <dgm:pt modelId="{C425359B-ABC7-E240-A783-017006256471}" type="pres">
      <dgm:prSet presAssocID="{A53112E8-C314-4E42-8201-ECB5CBCEA5B5}" presName="AccentHold1" presStyleLbl="node1" presStyleIdx="7" presStyleCnt="13"/>
      <dgm:spPr/>
    </dgm:pt>
    <dgm:pt modelId="{8BF2FCDF-4FEB-6044-B3EA-38022A6B899C}" type="pres">
      <dgm:prSet presAssocID="{A53112E8-C314-4E42-8201-ECB5CBCEA5B5}" presName="Accent8" presStyleCnt="0"/>
      <dgm:spPr/>
    </dgm:pt>
    <dgm:pt modelId="{D866148C-C449-F942-8011-F7B81E207F73}" type="pres">
      <dgm:prSet presAssocID="{A53112E8-C314-4E42-8201-ECB5CBCEA5B5}" presName="AccentHold2" presStyleLbl="node1" presStyleIdx="8" presStyleCnt="13"/>
      <dgm:spPr/>
    </dgm:pt>
    <dgm:pt modelId="{B7737CCB-962D-5742-B08B-1F839C4553BA}" type="pres">
      <dgm:prSet presAssocID="{F5E3573F-2C0D-9E43-AB20-91B94D876929}" presName="Child2" presStyleLbl="node1" presStyleIdx="9" presStyleCnt="13">
        <dgm:presLayoutVars>
          <dgm:chMax val="0"/>
          <dgm:chPref val="0"/>
        </dgm:presLayoutVars>
      </dgm:prSet>
      <dgm:spPr/>
    </dgm:pt>
    <dgm:pt modelId="{3615721C-844D-8444-B904-0FA113D30EC9}" type="pres">
      <dgm:prSet presAssocID="{F5E3573F-2C0D-9E43-AB20-91B94D876929}" presName="Accent9" presStyleCnt="0"/>
      <dgm:spPr/>
    </dgm:pt>
    <dgm:pt modelId="{C8EF1746-6B83-A747-B7CA-4E8E775CDA73}" type="pres">
      <dgm:prSet presAssocID="{F5E3573F-2C0D-9E43-AB20-91B94D876929}" presName="AccentHold1" presStyleLbl="node1" presStyleIdx="10" presStyleCnt="13"/>
      <dgm:spPr/>
    </dgm:pt>
    <dgm:pt modelId="{224A0839-D886-F247-AEFC-E0EE5D39C300}" type="pres">
      <dgm:prSet presAssocID="{F5E3573F-2C0D-9E43-AB20-91B94D876929}" presName="Accent10" presStyleCnt="0"/>
      <dgm:spPr/>
    </dgm:pt>
    <dgm:pt modelId="{2BF2596F-FBA6-4F4D-B88A-BDD9F839B339}" type="pres">
      <dgm:prSet presAssocID="{F5E3573F-2C0D-9E43-AB20-91B94D876929}" presName="AccentHold2" presStyleLbl="node1" presStyleIdx="11" presStyleCnt="13"/>
      <dgm:spPr/>
    </dgm:pt>
    <dgm:pt modelId="{B8E141C0-16D0-754D-965B-37D919199285}" type="pres">
      <dgm:prSet presAssocID="{F5E3573F-2C0D-9E43-AB20-91B94D876929}" presName="Accent11" presStyleCnt="0"/>
      <dgm:spPr/>
    </dgm:pt>
    <dgm:pt modelId="{3BA06810-AD40-7449-A16B-245B90DB6076}" type="pres">
      <dgm:prSet presAssocID="{F5E3573F-2C0D-9E43-AB20-91B94D876929}" presName="AccentHold3" presStyleLbl="node1" presStyleIdx="12" presStyleCnt="13"/>
      <dgm:spPr/>
    </dgm:pt>
  </dgm:ptLst>
  <dgm:cxnLst>
    <dgm:cxn modelId="{48A1531E-C054-4D42-AD59-6DB557479FDF}" type="presOf" srcId="{A132FAC6-5EA8-3645-B0D9-6160021AF1A6}" destId="{C8D8C63B-8E03-C24D-BCBB-79A5AEFAA8E8}" srcOrd="0" destOrd="0" presId="urn:microsoft.com/office/officeart/2009/3/layout/CircleRelationship"/>
    <dgm:cxn modelId="{7623CB94-73DB-024A-A39C-15423AD034DD}" type="presOf" srcId="{F5E3573F-2C0D-9E43-AB20-91B94D876929}" destId="{B7737CCB-962D-5742-B08B-1F839C4553BA}" srcOrd="0" destOrd="0" presId="urn:microsoft.com/office/officeart/2009/3/layout/CircleRelationship"/>
    <dgm:cxn modelId="{8637C3A0-927D-324C-B1F5-0888CCAD2B74}" srcId="{03CF468F-0A2F-C644-9888-42E232A66B2C}" destId="{A53112E8-C314-4E42-8201-ECB5CBCEA5B5}" srcOrd="0" destOrd="0" parTransId="{D1F271CE-6ACC-E645-A1A7-5280E3232AFC}" sibTransId="{D366DF77-3153-8E44-8BEA-0105A0B06E74}"/>
    <dgm:cxn modelId="{E901C1CD-B5D1-4F48-807C-4E8C70C82E1F}" srcId="{03CF468F-0A2F-C644-9888-42E232A66B2C}" destId="{F5E3573F-2C0D-9E43-AB20-91B94D876929}" srcOrd="1" destOrd="0" parTransId="{9A020198-D816-4947-A41D-4EB10F306616}" sibTransId="{7C5260F0-CFCC-B843-A84A-C0B58BE8C45F}"/>
    <dgm:cxn modelId="{D102F0D4-8529-B94D-85EF-062956046035}" type="presOf" srcId="{03CF468F-0A2F-C644-9888-42E232A66B2C}" destId="{F0E7C285-B0DD-C640-899D-59442D14EB8F}" srcOrd="0" destOrd="0" presId="urn:microsoft.com/office/officeart/2009/3/layout/CircleRelationship"/>
    <dgm:cxn modelId="{2A02F7E8-BAAA-0E40-A08F-9085F472A6B6}" srcId="{A132FAC6-5EA8-3645-B0D9-6160021AF1A6}" destId="{03CF468F-0A2F-C644-9888-42E232A66B2C}" srcOrd="0" destOrd="0" parTransId="{D47E2EA1-24A5-014C-9954-BB167D61091F}" sibTransId="{64C3D506-D8FA-4049-BC6D-8DF1C052360E}"/>
    <dgm:cxn modelId="{F5AD65F9-0064-7347-A928-A151E9ED7FAD}" type="presOf" srcId="{A53112E8-C314-4E42-8201-ECB5CBCEA5B5}" destId="{9917F614-5443-2040-952F-2B4B346FE418}" srcOrd="0" destOrd="0" presId="urn:microsoft.com/office/officeart/2009/3/layout/CircleRelationship"/>
    <dgm:cxn modelId="{B44C592E-04F2-8A4D-BC9F-A2AD8BF96441}" type="presParOf" srcId="{C8D8C63B-8E03-C24D-BCBB-79A5AEFAA8E8}" destId="{F0E7C285-B0DD-C640-899D-59442D14EB8F}" srcOrd="0" destOrd="0" presId="urn:microsoft.com/office/officeart/2009/3/layout/CircleRelationship"/>
    <dgm:cxn modelId="{7A5CB828-7ED8-F54C-A8BF-3B9A165358E8}" type="presParOf" srcId="{C8D8C63B-8E03-C24D-BCBB-79A5AEFAA8E8}" destId="{869D2B22-D27F-5B48-A2C8-14C650E7B9D8}" srcOrd="1" destOrd="0" presId="urn:microsoft.com/office/officeart/2009/3/layout/CircleRelationship"/>
    <dgm:cxn modelId="{01B39AFA-9221-1E41-A346-CD86910168D4}" type="presParOf" srcId="{C8D8C63B-8E03-C24D-BCBB-79A5AEFAA8E8}" destId="{6C8A20FF-A2CD-7845-BF72-701FD5741FFF}" srcOrd="2" destOrd="0" presId="urn:microsoft.com/office/officeart/2009/3/layout/CircleRelationship"/>
    <dgm:cxn modelId="{AC36C32A-B97E-9045-B0D7-8B519816C6B0}" type="presParOf" srcId="{C8D8C63B-8E03-C24D-BCBB-79A5AEFAA8E8}" destId="{95CFF5F4-F91F-BA46-A088-DDC6D5DF5524}" srcOrd="3" destOrd="0" presId="urn:microsoft.com/office/officeart/2009/3/layout/CircleRelationship"/>
    <dgm:cxn modelId="{2AB9E29C-0D26-DF41-8714-8853D88C04AA}" type="presParOf" srcId="{C8D8C63B-8E03-C24D-BCBB-79A5AEFAA8E8}" destId="{81D10380-336A-D040-907B-2159DBB647C2}" srcOrd="4" destOrd="0" presId="urn:microsoft.com/office/officeart/2009/3/layout/CircleRelationship"/>
    <dgm:cxn modelId="{98DBCD69-18FC-424C-82B1-2243AB955825}" type="presParOf" srcId="{C8D8C63B-8E03-C24D-BCBB-79A5AEFAA8E8}" destId="{EA150E00-D914-E544-BEC1-832FF542BB38}" srcOrd="5" destOrd="0" presId="urn:microsoft.com/office/officeart/2009/3/layout/CircleRelationship"/>
    <dgm:cxn modelId="{9576884A-EB9F-1544-948E-BC56D2B9C4A4}" type="presParOf" srcId="{C8D8C63B-8E03-C24D-BCBB-79A5AEFAA8E8}" destId="{859D6E87-F509-DC4C-B4B9-05CF0F4F6C4F}" srcOrd="6" destOrd="0" presId="urn:microsoft.com/office/officeart/2009/3/layout/CircleRelationship"/>
    <dgm:cxn modelId="{E5F5C2E9-EC2D-BC40-9C62-0733461B2BEE}" type="presParOf" srcId="{C8D8C63B-8E03-C24D-BCBB-79A5AEFAA8E8}" destId="{9917F614-5443-2040-952F-2B4B346FE418}" srcOrd="7" destOrd="0" presId="urn:microsoft.com/office/officeart/2009/3/layout/CircleRelationship"/>
    <dgm:cxn modelId="{FAB17546-83BC-F64A-8E36-6B8C6EB85EDA}" type="presParOf" srcId="{C8D8C63B-8E03-C24D-BCBB-79A5AEFAA8E8}" destId="{EE8973D9-6CD0-4E49-9D2E-9933F0908D7A}" srcOrd="8" destOrd="0" presId="urn:microsoft.com/office/officeart/2009/3/layout/CircleRelationship"/>
    <dgm:cxn modelId="{D4C5F0CB-53A4-0C40-BB51-DBE629BE6AB9}" type="presParOf" srcId="{EE8973D9-6CD0-4E49-9D2E-9933F0908D7A}" destId="{C425359B-ABC7-E240-A783-017006256471}" srcOrd="0" destOrd="0" presId="urn:microsoft.com/office/officeart/2009/3/layout/CircleRelationship"/>
    <dgm:cxn modelId="{A843844A-783D-C34D-ADCD-20C686667CAB}" type="presParOf" srcId="{C8D8C63B-8E03-C24D-BCBB-79A5AEFAA8E8}" destId="{8BF2FCDF-4FEB-6044-B3EA-38022A6B899C}" srcOrd="9" destOrd="0" presId="urn:microsoft.com/office/officeart/2009/3/layout/CircleRelationship"/>
    <dgm:cxn modelId="{E06923E3-4A19-2A48-B3B7-D4B003043FAC}" type="presParOf" srcId="{8BF2FCDF-4FEB-6044-B3EA-38022A6B899C}" destId="{D866148C-C449-F942-8011-F7B81E207F73}" srcOrd="0" destOrd="0" presId="urn:microsoft.com/office/officeart/2009/3/layout/CircleRelationship"/>
    <dgm:cxn modelId="{1B52F776-41B7-0249-974D-1C13AA186DEF}" type="presParOf" srcId="{C8D8C63B-8E03-C24D-BCBB-79A5AEFAA8E8}" destId="{B7737CCB-962D-5742-B08B-1F839C4553BA}" srcOrd="10" destOrd="0" presId="urn:microsoft.com/office/officeart/2009/3/layout/CircleRelationship"/>
    <dgm:cxn modelId="{08A44F96-FD7E-C44A-9366-44FB752C5F15}" type="presParOf" srcId="{C8D8C63B-8E03-C24D-BCBB-79A5AEFAA8E8}" destId="{3615721C-844D-8444-B904-0FA113D30EC9}" srcOrd="11" destOrd="0" presId="urn:microsoft.com/office/officeart/2009/3/layout/CircleRelationship"/>
    <dgm:cxn modelId="{FD3E170F-5B12-8142-8A72-3009E16A8447}" type="presParOf" srcId="{3615721C-844D-8444-B904-0FA113D30EC9}" destId="{C8EF1746-6B83-A747-B7CA-4E8E775CDA73}" srcOrd="0" destOrd="0" presId="urn:microsoft.com/office/officeart/2009/3/layout/CircleRelationship"/>
    <dgm:cxn modelId="{90ABC6FD-BA45-7B43-BC25-FE788BA31065}" type="presParOf" srcId="{C8D8C63B-8E03-C24D-BCBB-79A5AEFAA8E8}" destId="{224A0839-D886-F247-AEFC-E0EE5D39C300}" srcOrd="12" destOrd="0" presId="urn:microsoft.com/office/officeart/2009/3/layout/CircleRelationship"/>
    <dgm:cxn modelId="{DA31CDBC-B11A-294E-9A12-E87E5A68FBA2}" type="presParOf" srcId="{224A0839-D886-F247-AEFC-E0EE5D39C300}" destId="{2BF2596F-FBA6-4F4D-B88A-BDD9F839B339}" srcOrd="0" destOrd="0" presId="urn:microsoft.com/office/officeart/2009/3/layout/CircleRelationship"/>
    <dgm:cxn modelId="{2532526F-7990-FE4B-BD09-7E4DF9254555}" type="presParOf" srcId="{C8D8C63B-8E03-C24D-BCBB-79A5AEFAA8E8}" destId="{B8E141C0-16D0-754D-965B-37D919199285}" srcOrd="13" destOrd="0" presId="urn:microsoft.com/office/officeart/2009/3/layout/CircleRelationship"/>
    <dgm:cxn modelId="{492F9591-ADA1-534A-B889-EDD4694313A3}" type="presParOf" srcId="{B8E141C0-16D0-754D-965B-37D919199285}" destId="{3BA06810-AD40-7449-A16B-245B90DB6076}" srcOrd="0" destOrd="0" presId="urn:microsoft.com/office/officeart/2009/3/layout/CircleRelationship"/>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000455-203A-9441-B206-BEA8F81D421A}" type="doc">
      <dgm:prSet loTypeId="urn:microsoft.com/office/officeart/2005/8/layout/process1" loCatId="" qsTypeId="urn:microsoft.com/office/officeart/2005/8/quickstyle/simple1" qsCatId="simple" csTypeId="urn:microsoft.com/office/officeart/2005/8/colors/accent1_2" csCatId="accent1" phldr="1"/>
      <dgm:spPr/>
    </dgm:pt>
    <dgm:pt modelId="{D1A93260-987D-4148-8ACD-DEE393ACE296}">
      <dgm:prSet phldrT="[Text]" custT="1"/>
      <dgm:spPr/>
      <dgm:t>
        <a:bodyPr/>
        <a:lstStyle/>
        <a:p>
          <a:pPr rtl="0"/>
          <a:endParaRPr lang="en-US" sz="2000"/>
        </a:p>
      </dgm:t>
    </dgm:pt>
    <dgm:pt modelId="{2AC2AF38-499A-0A48-AB5E-803D9008F218}" type="parTrans" cxnId="{44694303-FF0C-6947-88CD-21E9F76682B6}">
      <dgm:prSet/>
      <dgm:spPr/>
      <dgm:t>
        <a:bodyPr/>
        <a:lstStyle/>
        <a:p>
          <a:endParaRPr lang="en-US" sz="1100"/>
        </a:p>
      </dgm:t>
    </dgm:pt>
    <dgm:pt modelId="{1D65669F-37B4-0A42-B657-B45819EF71FC}" type="sibTrans" cxnId="{44694303-FF0C-6947-88CD-21E9F76682B6}">
      <dgm:prSet custT="1"/>
      <dgm:spPr/>
      <dgm:t>
        <a:bodyPr/>
        <a:lstStyle/>
        <a:p>
          <a:endParaRPr lang="en-US" sz="1400"/>
        </a:p>
      </dgm:t>
    </dgm:pt>
    <dgm:pt modelId="{88868614-AE71-C94D-9CE7-20BB827AE6C6}">
      <dgm:prSet phldrT="[Text]" custT="1"/>
      <dgm:spPr/>
      <dgm:t>
        <a:bodyPr/>
        <a:lstStyle/>
        <a:p>
          <a:pPr rtl="0"/>
          <a:endParaRPr lang="en-US" sz="2000"/>
        </a:p>
      </dgm:t>
    </dgm:pt>
    <dgm:pt modelId="{29E0127C-26E0-DE47-A24F-7A5DF81D0985}" type="parTrans" cxnId="{14F5C785-00E2-1A46-95D6-7A4DA2CBB259}">
      <dgm:prSet/>
      <dgm:spPr/>
      <dgm:t>
        <a:bodyPr/>
        <a:lstStyle/>
        <a:p>
          <a:endParaRPr lang="en-US" sz="1100"/>
        </a:p>
      </dgm:t>
    </dgm:pt>
    <dgm:pt modelId="{2BFEF6F1-8A7B-7649-8DA5-142D970D4A99}" type="sibTrans" cxnId="{14F5C785-00E2-1A46-95D6-7A4DA2CBB259}">
      <dgm:prSet custT="1"/>
      <dgm:spPr/>
      <dgm:t>
        <a:bodyPr/>
        <a:lstStyle/>
        <a:p>
          <a:endParaRPr lang="en-US" sz="1400"/>
        </a:p>
      </dgm:t>
    </dgm:pt>
    <dgm:pt modelId="{B311A942-836F-734A-BD33-0B4FEE031DFF}">
      <dgm:prSet phldrT="[Text]" custT="1"/>
      <dgm:spPr/>
      <dgm:t>
        <a:bodyPr/>
        <a:lstStyle/>
        <a:p>
          <a:pPr rtl="0"/>
          <a:endParaRPr lang="en-US" sz="2000"/>
        </a:p>
      </dgm:t>
    </dgm:pt>
    <dgm:pt modelId="{94185D4F-E2F9-194F-B6D7-34D3FE205C58}" type="parTrans" cxnId="{6EDE27B9-6F49-6C43-81DC-5D392598A93B}">
      <dgm:prSet/>
      <dgm:spPr/>
      <dgm:t>
        <a:bodyPr/>
        <a:lstStyle/>
        <a:p>
          <a:endParaRPr lang="en-US" sz="1100"/>
        </a:p>
      </dgm:t>
    </dgm:pt>
    <dgm:pt modelId="{919C991E-A2B9-FE46-978A-D1674A72E02E}" type="sibTrans" cxnId="{6EDE27B9-6F49-6C43-81DC-5D392598A93B}">
      <dgm:prSet/>
      <dgm:spPr/>
      <dgm:t>
        <a:bodyPr/>
        <a:lstStyle/>
        <a:p>
          <a:endParaRPr lang="en-US" sz="1100"/>
        </a:p>
      </dgm:t>
    </dgm:pt>
    <dgm:pt modelId="{68839520-4022-5244-A486-BB41129218EA}">
      <dgm:prSet/>
      <dgm:spPr>
        <a:solidFill>
          <a:schemeClr val="accent6">
            <a:lumMod val="50000"/>
          </a:schemeClr>
        </a:solidFill>
      </dgm:spPr>
      <dgm:t>
        <a:bodyPr/>
        <a:lstStyle/>
        <a:p>
          <a:pPr rtl="0"/>
          <a:r>
            <a:rPr lang="en-US"/>
            <a:t>Attack</a:t>
          </a:r>
        </a:p>
      </dgm:t>
    </dgm:pt>
    <dgm:pt modelId="{48B5860E-709C-824E-B1D1-CC7EEC32A1A0}" type="parTrans" cxnId="{F82E7FEF-4891-0544-9CB5-B01A4F1E8CEF}">
      <dgm:prSet/>
      <dgm:spPr/>
      <dgm:t>
        <a:bodyPr/>
        <a:lstStyle/>
        <a:p>
          <a:endParaRPr lang="en-US"/>
        </a:p>
      </dgm:t>
    </dgm:pt>
    <dgm:pt modelId="{C0C9FB24-C5E3-E34E-A0AA-694DA0938A48}" type="sibTrans" cxnId="{F82E7FEF-4891-0544-9CB5-B01A4F1E8CEF}">
      <dgm:prSet/>
      <dgm:spPr/>
      <dgm:t>
        <a:bodyPr/>
        <a:lstStyle/>
        <a:p>
          <a:pPr rtl="0"/>
          <a:endParaRPr lang="en-US"/>
        </a:p>
      </dgm:t>
    </dgm:pt>
    <dgm:pt modelId="{4F6C9775-7946-3A48-AEE4-51D2B942BD98}">
      <dgm:prSet/>
      <dgm:spPr>
        <a:solidFill>
          <a:schemeClr val="accent3"/>
        </a:solidFill>
      </dgm:spPr>
      <dgm:t>
        <a:bodyPr/>
        <a:lstStyle/>
        <a:p>
          <a:pPr rtl="0"/>
          <a:r>
            <a:rPr lang="en-US"/>
            <a:t>No Attack</a:t>
          </a:r>
        </a:p>
      </dgm:t>
    </dgm:pt>
    <dgm:pt modelId="{60A11FCB-0FDD-B24F-8820-B29E14B122B3}" type="parTrans" cxnId="{20D569DB-D958-0940-A194-FCD1B2C56338}">
      <dgm:prSet/>
      <dgm:spPr/>
      <dgm:t>
        <a:bodyPr/>
        <a:lstStyle/>
        <a:p>
          <a:endParaRPr lang="en-US"/>
        </a:p>
      </dgm:t>
    </dgm:pt>
    <dgm:pt modelId="{03DA52EA-D5CD-8441-BF3E-2FE99CA7C75A}" type="sibTrans" cxnId="{20D569DB-D958-0940-A194-FCD1B2C56338}">
      <dgm:prSet/>
      <dgm:spPr/>
      <dgm:t>
        <a:bodyPr/>
        <a:lstStyle/>
        <a:p>
          <a:endParaRPr lang="en-US"/>
        </a:p>
      </dgm:t>
    </dgm:pt>
    <dgm:pt modelId="{87A2D4E9-C35C-5449-A339-F3B795BE6541}" type="pres">
      <dgm:prSet presAssocID="{2F000455-203A-9441-B206-BEA8F81D421A}" presName="Name0" presStyleCnt="0">
        <dgm:presLayoutVars>
          <dgm:dir/>
          <dgm:resizeHandles val="exact"/>
        </dgm:presLayoutVars>
      </dgm:prSet>
      <dgm:spPr/>
    </dgm:pt>
    <dgm:pt modelId="{DCBC28B7-22CF-2149-9FD1-51017DF98F35}" type="pres">
      <dgm:prSet presAssocID="{D1A93260-987D-4148-8ACD-DEE393ACE296}" presName="node" presStyleLbl="node1" presStyleIdx="0" presStyleCnt="5" custScaleY="149842">
        <dgm:presLayoutVars>
          <dgm:bulletEnabled val="1"/>
        </dgm:presLayoutVars>
      </dgm:prSet>
      <dgm:spPr/>
    </dgm:pt>
    <dgm:pt modelId="{7F719E20-FD62-4A42-B9E5-5F2CB4C5D28D}" type="pres">
      <dgm:prSet presAssocID="{1D65669F-37B4-0A42-B657-B45819EF71FC}" presName="sibTrans" presStyleLbl="sibTrans2D1" presStyleIdx="0" presStyleCnt="4"/>
      <dgm:spPr/>
    </dgm:pt>
    <dgm:pt modelId="{E35489DB-FA34-A748-9CC6-BBEDBD550E0D}" type="pres">
      <dgm:prSet presAssocID="{1D65669F-37B4-0A42-B657-B45819EF71FC}" presName="connectorText" presStyleLbl="sibTrans2D1" presStyleIdx="0" presStyleCnt="4"/>
      <dgm:spPr/>
    </dgm:pt>
    <dgm:pt modelId="{AB7555C0-CDFC-174C-B47B-47ACA6DE8649}" type="pres">
      <dgm:prSet presAssocID="{88868614-AE71-C94D-9CE7-20BB827AE6C6}" presName="node" presStyleLbl="node1" presStyleIdx="1" presStyleCnt="5" custScaleY="149842">
        <dgm:presLayoutVars>
          <dgm:bulletEnabled val="1"/>
        </dgm:presLayoutVars>
      </dgm:prSet>
      <dgm:spPr/>
    </dgm:pt>
    <dgm:pt modelId="{BDD5A6A8-FA05-F34E-9BDA-43FCC604C4C9}" type="pres">
      <dgm:prSet presAssocID="{2BFEF6F1-8A7B-7649-8DA5-142D970D4A99}" presName="sibTrans" presStyleLbl="sibTrans2D1" presStyleIdx="1" presStyleCnt="4"/>
      <dgm:spPr/>
    </dgm:pt>
    <dgm:pt modelId="{6C34E565-5C57-6948-AA52-7DB9EBF42997}" type="pres">
      <dgm:prSet presAssocID="{2BFEF6F1-8A7B-7649-8DA5-142D970D4A99}" presName="connectorText" presStyleLbl="sibTrans2D1" presStyleIdx="1" presStyleCnt="4"/>
      <dgm:spPr/>
    </dgm:pt>
    <dgm:pt modelId="{38A91359-03E6-B64B-88C6-BA326E690416}" type="pres">
      <dgm:prSet presAssocID="{B311A942-836F-734A-BD33-0B4FEE031DFF}" presName="node" presStyleLbl="node1" presStyleIdx="2" presStyleCnt="5" custScaleY="149842">
        <dgm:presLayoutVars>
          <dgm:bulletEnabled val="1"/>
        </dgm:presLayoutVars>
      </dgm:prSet>
      <dgm:spPr/>
    </dgm:pt>
    <dgm:pt modelId="{F6087F66-D2D0-B240-B680-4F2B0C377708}" type="pres">
      <dgm:prSet presAssocID="{919C991E-A2B9-FE46-978A-D1674A72E02E}" presName="sibTrans" presStyleLbl="sibTrans2D1" presStyleIdx="2" presStyleCnt="4"/>
      <dgm:spPr/>
    </dgm:pt>
    <dgm:pt modelId="{4C5FBD6E-6D0A-E34A-A0EC-128C712B0D62}" type="pres">
      <dgm:prSet presAssocID="{919C991E-A2B9-FE46-978A-D1674A72E02E}" presName="connectorText" presStyleLbl="sibTrans2D1" presStyleIdx="2" presStyleCnt="4"/>
      <dgm:spPr/>
    </dgm:pt>
    <dgm:pt modelId="{3EC670F1-6A16-E34A-A671-F1A6A50D7D97}" type="pres">
      <dgm:prSet presAssocID="{68839520-4022-5244-A486-BB41129218EA}" presName="node" presStyleLbl="node1" presStyleIdx="3" presStyleCnt="5" custLinFactY="-13548" custLinFactNeighborX="23464" custLinFactNeighborY="-100000">
        <dgm:presLayoutVars>
          <dgm:bulletEnabled val="1"/>
        </dgm:presLayoutVars>
      </dgm:prSet>
      <dgm:spPr/>
    </dgm:pt>
    <dgm:pt modelId="{E5B68AC7-A692-F148-9A1D-7F6F9616BA67}" type="pres">
      <dgm:prSet presAssocID="{C0C9FB24-C5E3-E34E-A0AA-694DA0938A48}" presName="sibTrans" presStyleLbl="sibTrans2D1" presStyleIdx="3" presStyleCnt="4" custAng="18042259" custLinFactX="-100000" custLinFactY="45339" custLinFactNeighborX="-197034" custLinFactNeighborY="100000"/>
      <dgm:spPr/>
    </dgm:pt>
    <dgm:pt modelId="{242669DD-DB54-F745-8E65-9155D7B38A98}" type="pres">
      <dgm:prSet presAssocID="{C0C9FB24-C5E3-E34E-A0AA-694DA0938A48}" presName="connectorText" presStyleLbl="sibTrans2D1" presStyleIdx="3" presStyleCnt="4"/>
      <dgm:spPr/>
    </dgm:pt>
    <dgm:pt modelId="{71D4EEB9-C769-1048-8346-E5BB3A1F44E6}" type="pres">
      <dgm:prSet presAssocID="{4F6C9775-7946-3A48-AEE4-51D2B942BD98}" presName="node" presStyleLbl="node1" presStyleIdx="4" presStyleCnt="5" custLinFactX="-90614" custLinFactNeighborX="-100000" custLinFactNeighborY="66073">
        <dgm:presLayoutVars>
          <dgm:bulletEnabled val="1"/>
        </dgm:presLayoutVars>
      </dgm:prSet>
      <dgm:spPr/>
    </dgm:pt>
  </dgm:ptLst>
  <dgm:cxnLst>
    <dgm:cxn modelId="{44694303-FF0C-6947-88CD-21E9F76682B6}" srcId="{2F000455-203A-9441-B206-BEA8F81D421A}" destId="{D1A93260-987D-4148-8ACD-DEE393ACE296}" srcOrd="0" destOrd="0" parTransId="{2AC2AF38-499A-0A48-AB5E-803D9008F218}" sibTransId="{1D65669F-37B4-0A42-B657-B45819EF71FC}"/>
    <dgm:cxn modelId="{FD53AD19-210A-044F-9628-A430A4F87B8F}" type="presOf" srcId="{1D65669F-37B4-0A42-B657-B45819EF71FC}" destId="{E35489DB-FA34-A748-9CC6-BBEDBD550E0D}" srcOrd="1" destOrd="0" presId="urn:microsoft.com/office/officeart/2005/8/layout/process1"/>
    <dgm:cxn modelId="{4743FC31-E4ED-0744-B116-9458A17E561F}" type="presOf" srcId="{919C991E-A2B9-FE46-978A-D1674A72E02E}" destId="{F6087F66-D2D0-B240-B680-4F2B0C377708}" srcOrd="0" destOrd="0" presId="urn:microsoft.com/office/officeart/2005/8/layout/process1"/>
    <dgm:cxn modelId="{D3B1133A-7D1F-5643-9F25-494ACF5B2642}" type="presOf" srcId="{919C991E-A2B9-FE46-978A-D1674A72E02E}" destId="{4C5FBD6E-6D0A-E34A-A0EC-128C712B0D62}" srcOrd="1" destOrd="0" presId="urn:microsoft.com/office/officeart/2005/8/layout/process1"/>
    <dgm:cxn modelId="{B8515D5C-F26F-DF40-A174-F95384BA3F8E}" type="presOf" srcId="{C0C9FB24-C5E3-E34E-A0AA-694DA0938A48}" destId="{242669DD-DB54-F745-8E65-9155D7B38A98}" srcOrd="1" destOrd="0" presId="urn:microsoft.com/office/officeart/2005/8/layout/process1"/>
    <dgm:cxn modelId="{14F5C785-00E2-1A46-95D6-7A4DA2CBB259}" srcId="{2F000455-203A-9441-B206-BEA8F81D421A}" destId="{88868614-AE71-C94D-9CE7-20BB827AE6C6}" srcOrd="1" destOrd="0" parTransId="{29E0127C-26E0-DE47-A24F-7A5DF81D0985}" sibTransId="{2BFEF6F1-8A7B-7649-8DA5-142D970D4A99}"/>
    <dgm:cxn modelId="{B9B94689-0810-D44D-A424-FEBC0718F73A}" type="presOf" srcId="{68839520-4022-5244-A486-BB41129218EA}" destId="{3EC670F1-6A16-E34A-A671-F1A6A50D7D97}" srcOrd="0" destOrd="0" presId="urn:microsoft.com/office/officeart/2005/8/layout/process1"/>
    <dgm:cxn modelId="{8E6D289C-B7F4-0544-808C-93406A9F8932}" type="presOf" srcId="{2F000455-203A-9441-B206-BEA8F81D421A}" destId="{87A2D4E9-C35C-5449-A339-F3B795BE6541}" srcOrd="0" destOrd="0" presId="urn:microsoft.com/office/officeart/2005/8/layout/process1"/>
    <dgm:cxn modelId="{E1A14FAD-2FED-454E-991A-62C3D8ADFAC1}" type="presOf" srcId="{2BFEF6F1-8A7B-7649-8DA5-142D970D4A99}" destId="{6C34E565-5C57-6948-AA52-7DB9EBF42997}" srcOrd="1" destOrd="0" presId="urn:microsoft.com/office/officeart/2005/8/layout/process1"/>
    <dgm:cxn modelId="{6EDE27B9-6F49-6C43-81DC-5D392598A93B}" srcId="{2F000455-203A-9441-B206-BEA8F81D421A}" destId="{B311A942-836F-734A-BD33-0B4FEE031DFF}" srcOrd="2" destOrd="0" parTransId="{94185D4F-E2F9-194F-B6D7-34D3FE205C58}" sibTransId="{919C991E-A2B9-FE46-978A-D1674A72E02E}"/>
    <dgm:cxn modelId="{BD7879BC-0086-E24B-A401-E1659FC691FD}" type="presOf" srcId="{2BFEF6F1-8A7B-7649-8DA5-142D970D4A99}" destId="{BDD5A6A8-FA05-F34E-9BDA-43FCC604C4C9}" srcOrd="0" destOrd="0" presId="urn:microsoft.com/office/officeart/2005/8/layout/process1"/>
    <dgm:cxn modelId="{E89FA1C2-E527-674F-8D03-8DBDC7FD3E2B}" type="presOf" srcId="{B311A942-836F-734A-BD33-0B4FEE031DFF}" destId="{38A91359-03E6-B64B-88C6-BA326E690416}" srcOrd="0" destOrd="0" presId="urn:microsoft.com/office/officeart/2005/8/layout/process1"/>
    <dgm:cxn modelId="{C56060D7-05CB-444B-AA5C-06E7184B074C}" type="presOf" srcId="{C0C9FB24-C5E3-E34E-A0AA-694DA0938A48}" destId="{E5B68AC7-A692-F148-9A1D-7F6F9616BA67}" srcOrd="0" destOrd="0" presId="urn:microsoft.com/office/officeart/2005/8/layout/process1"/>
    <dgm:cxn modelId="{20D569DB-D958-0940-A194-FCD1B2C56338}" srcId="{2F000455-203A-9441-B206-BEA8F81D421A}" destId="{4F6C9775-7946-3A48-AEE4-51D2B942BD98}" srcOrd="4" destOrd="0" parTransId="{60A11FCB-0FDD-B24F-8820-B29E14B122B3}" sibTransId="{03DA52EA-D5CD-8441-BF3E-2FE99CA7C75A}"/>
    <dgm:cxn modelId="{5521E9EA-920C-F543-9A7D-55520327E9A9}" type="presOf" srcId="{88868614-AE71-C94D-9CE7-20BB827AE6C6}" destId="{AB7555C0-CDFC-174C-B47B-47ACA6DE8649}" srcOrd="0" destOrd="0" presId="urn:microsoft.com/office/officeart/2005/8/layout/process1"/>
    <dgm:cxn modelId="{F82E7FEF-4891-0544-9CB5-B01A4F1E8CEF}" srcId="{2F000455-203A-9441-B206-BEA8F81D421A}" destId="{68839520-4022-5244-A486-BB41129218EA}" srcOrd="3" destOrd="0" parTransId="{48B5860E-709C-824E-B1D1-CC7EEC32A1A0}" sibTransId="{C0C9FB24-C5E3-E34E-A0AA-694DA0938A48}"/>
    <dgm:cxn modelId="{11AAB9F0-4215-1F4A-A139-FACCCE3D9949}" type="presOf" srcId="{D1A93260-987D-4148-8ACD-DEE393ACE296}" destId="{DCBC28B7-22CF-2149-9FD1-51017DF98F35}" srcOrd="0" destOrd="0" presId="urn:microsoft.com/office/officeart/2005/8/layout/process1"/>
    <dgm:cxn modelId="{560907F6-6CC7-B44D-B82E-6B98D7A0A3B3}" type="presOf" srcId="{1D65669F-37B4-0A42-B657-B45819EF71FC}" destId="{7F719E20-FD62-4A42-B9E5-5F2CB4C5D28D}" srcOrd="0" destOrd="0" presId="urn:microsoft.com/office/officeart/2005/8/layout/process1"/>
    <dgm:cxn modelId="{2BD5DCFE-AF65-8B4B-873C-381316B742D8}" type="presOf" srcId="{4F6C9775-7946-3A48-AEE4-51D2B942BD98}" destId="{71D4EEB9-C769-1048-8346-E5BB3A1F44E6}" srcOrd="0" destOrd="0" presId="urn:microsoft.com/office/officeart/2005/8/layout/process1"/>
    <dgm:cxn modelId="{6F0B6141-91FA-7742-93CB-41BB43D542FE}" type="presParOf" srcId="{87A2D4E9-C35C-5449-A339-F3B795BE6541}" destId="{DCBC28B7-22CF-2149-9FD1-51017DF98F35}" srcOrd="0" destOrd="0" presId="urn:microsoft.com/office/officeart/2005/8/layout/process1"/>
    <dgm:cxn modelId="{EBE7E2BC-01E9-EF4D-8D00-E571DC30BEA0}" type="presParOf" srcId="{87A2D4E9-C35C-5449-A339-F3B795BE6541}" destId="{7F719E20-FD62-4A42-B9E5-5F2CB4C5D28D}" srcOrd="1" destOrd="0" presId="urn:microsoft.com/office/officeart/2005/8/layout/process1"/>
    <dgm:cxn modelId="{D66A2975-323A-4246-B6D7-6395F39332A2}" type="presParOf" srcId="{7F719E20-FD62-4A42-B9E5-5F2CB4C5D28D}" destId="{E35489DB-FA34-A748-9CC6-BBEDBD550E0D}" srcOrd="0" destOrd="0" presId="urn:microsoft.com/office/officeart/2005/8/layout/process1"/>
    <dgm:cxn modelId="{23B23230-F939-C047-AB33-CE930EB73EF5}" type="presParOf" srcId="{87A2D4E9-C35C-5449-A339-F3B795BE6541}" destId="{AB7555C0-CDFC-174C-B47B-47ACA6DE8649}" srcOrd="2" destOrd="0" presId="urn:microsoft.com/office/officeart/2005/8/layout/process1"/>
    <dgm:cxn modelId="{DF11105E-ACF7-D743-9D03-B2759726DDB2}" type="presParOf" srcId="{87A2D4E9-C35C-5449-A339-F3B795BE6541}" destId="{BDD5A6A8-FA05-F34E-9BDA-43FCC604C4C9}" srcOrd="3" destOrd="0" presId="urn:microsoft.com/office/officeart/2005/8/layout/process1"/>
    <dgm:cxn modelId="{10E48298-DC6E-9244-B923-A8A4EEB0730C}" type="presParOf" srcId="{BDD5A6A8-FA05-F34E-9BDA-43FCC604C4C9}" destId="{6C34E565-5C57-6948-AA52-7DB9EBF42997}" srcOrd="0" destOrd="0" presId="urn:microsoft.com/office/officeart/2005/8/layout/process1"/>
    <dgm:cxn modelId="{6AC8D098-C308-2245-A55C-FE611F6832E9}" type="presParOf" srcId="{87A2D4E9-C35C-5449-A339-F3B795BE6541}" destId="{38A91359-03E6-B64B-88C6-BA326E690416}" srcOrd="4" destOrd="0" presId="urn:microsoft.com/office/officeart/2005/8/layout/process1"/>
    <dgm:cxn modelId="{F02F772A-0EC9-444B-B2E3-8A5E1D21A573}" type="presParOf" srcId="{87A2D4E9-C35C-5449-A339-F3B795BE6541}" destId="{F6087F66-D2D0-B240-B680-4F2B0C377708}" srcOrd="5" destOrd="0" presId="urn:microsoft.com/office/officeart/2005/8/layout/process1"/>
    <dgm:cxn modelId="{FE5EE13B-2CD6-F048-BF2C-100D6ACA0C41}" type="presParOf" srcId="{F6087F66-D2D0-B240-B680-4F2B0C377708}" destId="{4C5FBD6E-6D0A-E34A-A0EC-128C712B0D62}" srcOrd="0" destOrd="0" presId="urn:microsoft.com/office/officeart/2005/8/layout/process1"/>
    <dgm:cxn modelId="{BF8431EC-A6AD-664E-A412-B5BAFFE69B98}" type="presParOf" srcId="{87A2D4E9-C35C-5449-A339-F3B795BE6541}" destId="{3EC670F1-6A16-E34A-A671-F1A6A50D7D97}" srcOrd="6" destOrd="0" presId="urn:microsoft.com/office/officeart/2005/8/layout/process1"/>
    <dgm:cxn modelId="{0C4D31BB-6476-3A43-ACC8-6BDC1501E6A9}" type="presParOf" srcId="{87A2D4E9-C35C-5449-A339-F3B795BE6541}" destId="{E5B68AC7-A692-F148-9A1D-7F6F9616BA67}" srcOrd="7" destOrd="0" presId="urn:microsoft.com/office/officeart/2005/8/layout/process1"/>
    <dgm:cxn modelId="{BCA05914-A322-BB41-A667-6ABFCE6BC767}" type="presParOf" srcId="{E5B68AC7-A692-F148-9A1D-7F6F9616BA67}" destId="{242669DD-DB54-F745-8E65-9155D7B38A98}" srcOrd="0" destOrd="0" presId="urn:microsoft.com/office/officeart/2005/8/layout/process1"/>
    <dgm:cxn modelId="{211C4DFC-EC62-FB40-A033-2260C5F02A37}" type="presParOf" srcId="{87A2D4E9-C35C-5449-A339-F3B795BE6541}" destId="{71D4EEB9-C769-1048-8346-E5BB3A1F44E6}"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8264EF-93A0-7549-AD95-B413010D332A}">
      <dsp:nvSpPr>
        <dsp:cNvPr id="0" name=""/>
        <dsp:cNvSpPr/>
      </dsp:nvSpPr>
      <dsp:spPr>
        <a:xfrm>
          <a:off x="1682526" y="1611937"/>
          <a:ext cx="401823" cy="765670"/>
        </a:xfrm>
        <a:custGeom>
          <a:avLst/>
          <a:gdLst/>
          <a:ahLst/>
          <a:cxnLst/>
          <a:rect l="0" t="0" r="0" b="0"/>
          <a:pathLst>
            <a:path>
              <a:moveTo>
                <a:pt x="0" y="0"/>
              </a:moveTo>
              <a:lnTo>
                <a:pt x="200911" y="0"/>
              </a:lnTo>
              <a:lnTo>
                <a:pt x="200911" y="765670"/>
              </a:lnTo>
              <a:lnTo>
                <a:pt x="401823" y="765670"/>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
            <a:lnSpc>
              <a:spcPct val="90000"/>
            </a:lnSpc>
            <a:spcBef>
              <a:spcPct val="0"/>
            </a:spcBef>
            <a:spcAft>
              <a:spcPct val="35000"/>
            </a:spcAft>
            <a:buNone/>
          </a:pPr>
          <a:endParaRPr lang="en-US" sz="200" kern="1200"/>
        </a:p>
      </dsp:txBody>
      <dsp:txXfrm>
        <a:off x="1861820" y="1973154"/>
        <a:ext cx="43235" cy="43235"/>
      </dsp:txXfrm>
    </dsp:sp>
    <dsp:sp modelId="{1FD150EE-122A-8C49-A57F-8F276B09E594}">
      <dsp:nvSpPr>
        <dsp:cNvPr id="0" name=""/>
        <dsp:cNvSpPr/>
      </dsp:nvSpPr>
      <dsp:spPr>
        <a:xfrm>
          <a:off x="1682526" y="1566216"/>
          <a:ext cx="401823" cy="91440"/>
        </a:xfrm>
        <a:custGeom>
          <a:avLst/>
          <a:gdLst/>
          <a:ahLst/>
          <a:cxnLst/>
          <a:rect l="0" t="0" r="0" b="0"/>
          <a:pathLst>
            <a:path>
              <a:moveTo>
                <a:pt x="0" y="45720"/>
              </a:moveTo>
              <a:lnTo>
                <a:pt x="401823" y="45720"/>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
            <a:lnSpc>
              <a:spcPct val="90000"/>
            </a:lnSpc>
            <a:spcBef>
              <a:spcPct val="0"/>
            </a:spcBef>
            <a:spcAft>
              <a:spcPct val="35000"/>
            </a:spcAft>
            <a:buNone/>
          </a:pPr>
          <a:endParaRPr lang="en-US" sz="200" kern="1200"/>
        </a:p>
      </dsp:txBody>
      <dsp:txXfrm>
        <a:off x="1873392" y="1601891"/>
        <a:ext cx="20091" cy="20091"/>
      </dsp:txXfrm>
    </dsp:sp>
    <dsp:sp modelId="{F71DB9B3-DF02-054C-8073-8F1FF5E87380}">
      <dsp:nvSpPr>
        <dsp:cNvPr id="0" name=""/>
        <dsp:cNvSpPr/>
      </dsp:nvSpPr>
      <dsp:spPr>
        <a:xfrm>
          <a:off x="1682526" y="846266"/>
          <a:ext cx="401823" cy="765670"/>
        </a:xfrm>
        <a:custGeom>
          <a:avLst/>
          <a:gdLst/>
          <a:ahLst/>
          <a:cxnLst/>
          <a:rect l="0" t="0" r="0" b="0"/>
          <a:pathLst>
            <a:path>
              <a:moveTo>
                <a:pt x="0" y="765670"/>
              </a:moveTo>
              <a:lnTo>
                <a:pt x="200911" y="765670"/>
              </a:lnTo>
              <a:lnTo>
                <a:pt x="200911" y="0"/>
              </a:lnTo>
              <a:lnTo>
                <a:pt x="401823" y="0"/>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
            <a:lnSpc>
              <a:spcPct val="90000"/>
            </a:lnSpc>
            <a:spcBef>
              <a:spcPct val="0"/>
            </a:spcBef>
            <a:spcAft>
              <a:spcPct val="35000"/>
            </a:spcAft>
            <a:buNone/>
          </a:pPr>
          <a:endParaRPr lang="en-US" sz="200" kern="1200"/>
        </a:p>
      </dsp:txBody>
      <dsp:txXfrm>
        <a:off x="1861820" y="1207484"/>
        <a:ext cx="43235" cy="43235"/>
      </dsp:txXfrm>
    </dsp:sp>
    <dsp:sp modelId="{02FFD889-1152-8147-9931-8A0218B7FD19}">
      <dsp:nvSpPr>
        <dsp:cNvPr id="0" name=""/>
        <dsp:cNvSpPr/>
      </dsp:nvSpPr>
      <dsp:spPr>
        <a:xfrm rot="16200000">
          <a:off x="-235678" y="1305668"/>
          <a:ext cx="3223874" cy="612536"/>
        </a:xfrm>
        <a:prstGeom prst="rect">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en-US" sz="3200" kern="1200"/>
            <a:t>IDS</a:t>
          </a:r>
        </a:p>
      </dsp:txBody>
      <dsp:txXfrm>
        <a:off x="-235678" y="1305668"/>
        <a:ext cx="3223874" cy="612536"/>
      </dsp:txXfrm>
    </dsp:sp>
    <dsp:sp modelId="{4773F6B6-68A7-164B-AB2F-1A2F2289E074}">
      <dsp:nvSpPr>
        <dsp:cNvPr id="0" name=""/>
        <dsp:cNvSpPr/>
      </dsp:nvSpPr>
      <dsp:spPr>
        <a:xfrm>
          <a:off x="2084349" y="539998"/>
          <a:ext cx="2009118" cy="612536"/>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t>Anomaly Detector</a:t>
          </a:r>
        </a:p>
      </dsp:txBody>
      <dsp:txXfrm>
        <a:off x="2084349" y="539998"/>
        <a:ext cx="2009118" cy="612536"/>
      </dsp:txXfrm>
    </dsp:sp>
    <dsp:sp modelId="{E7D6444F-F7C3-5D4E-9A0A-0256C9198EDC}">
      <dsp:nvSpPr>
        <dsp:cNvPr id="0" name=""/>
        <dsp:cNvSpPr/>
      </dsp:nvSpPr>
      <dsp:spPr>
        <a:xfrm>
          <a:off x="2084349" y="1305668"/>
          <a:ext cx="2009118" cy="612536"/>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t>Attack Classifier</a:t>
          </a:r>
        </a:p>
      </dsp:txBody>
      <dsp:txXfrm>
        <a:off x="2084349" y="1305668"/>
        <a:ext cx="2009118" cy="612536"/>
      </dsp:txXfrm>
    </dsp:sp>
    <dsp:sp modelId="{A0769E53-C56E-5C49-AFD3-3649DBFF7AF0}">
      <dsp:nvSpPr>
        <dsp:cNvPr id="0" name=""/>
        <dsp:cNvSpPr/>
      </dsp:nvSpPr>
      <dsp:spPr>
        <a:xfrm>
          <a:off x="2084349" y="2071339"/>
          <a:ext cx="2009118" cy="612536"/>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rtl="0">
            <a:lnSpc>
              <a:spcPct val="90000"/>
            </a:lnSpc>
            <a:spcBef>
              <a:spcPct val="0"/>
            </a:spcBef>
            <a:spcAft>
              <a:spcPct val="35000"/>
            </a:spcAft>
            <a:buNone/>
          </a:pPr>
          <a:r>
            <a:rPr lang="en-US" sz="1600" kern="1200"/>
            <a:t>Zero-day attack classifier</a:t>
          </a:r>
        </a:p>
      </dsp:txBody>
      <dsp:txXfrm>
        <a:off x="2084349" y="2071339"/>
        <a:ext cx="2009118" cy="6125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E7C285-B0DD-C640-899D-59442D14EB8F}">
      <dsp:nvSpPr>
        <dsp:cNvPr id="0" name=""/>
        <dsp:cNvSpPr/>
      </dsp:nvSpPr>
      <dsp:spPr>
        <a:xfrm>
          <a:off x="1296811" y="1659679"/>
          <a:ext cx="746075" cy="760937"/>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i="0" kern="1200"/>
            <a:t>WUSTL-IIOT-2021</a:t>
          </a:r>
          <a:endParaRPr lang="en-US" sz="900" kern="1200"/>
        </a:p>
      </dsp:txBody>
      <dsp:txXfrm>
        <a:off x="1406071" y="1771116"/>
        <a:ext cx="527555" cy="538063"/>
      </dsp:txXfrm>
    </dsp:sp>
    <dsp:sp modelId="{869D2B22-D27F-5B48-A2C8-14C650E7B9D8}">
      <dsp:nvSpPr>
        <dsp:cNvPr id="0" name=""/>
        <dsp:cNvSpPr/>
      </dsp:nvSpPr>
      <dsp:spPr>
        <a:xfrm>
          <a:off x="1808379" y="969350"/>
          <a:ext cx="218290" cy="218286"/>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C8A20FF-A2CD-7845-BF72-701FD5741FFF}">
      <dsp:nvSpPr>
        <dsp:cNvPr id="0" name=""/>
        <dsp:cNvSpPr/>
      </dsp:nvSpPr>
      <dsp:spPr>
        <a:xfrm>
          <a:off x="1291490" y="2875691"/>
          <a:ext cx="158059" cy="158212"/>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5CFF5F4-F91F-BA46-A088-DDC6D5DF5524}">
      <dsp:nvSpPr>
        <dsp:cNvPr id="0" name=""/>
        <dsp:cNvSpPr/>
      </dsp:nvSpPr>
      <dsp:spPr>
        <a:xfrm>
          <a:off x="2777545" y="1855338"/>
          <a:ext cx="158059" cy="158212"/>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1D10380-336A-D040-907B-2159DBB647C2}">
      <dsp:nvSpPr>
        <dsp:cNvPr id="0" name=""/>
        <dsp:cNvSpPr/>
      </dsp:nvSpPr>
      <dsp:spPr>
        <a:xfrm>
          <a:off x="2021194" y="3043992"/>
          <a:ext cx="218290" cy="218286"/>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A150E00-D914-E544-BEC1-832FF542BB38}">
      <dsp:nvSpPr>
        <dsp:cNvPr id="0" name=""/>
        <dsp:cNvSpPr/>
      </dsp:nvSpPr>
      <dsp:spPr>
        <a:xfrm>
          <a:off x="1336390" y="1279584"/>
          <a:ext cx="158059" cy="158212"/>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59D6E87-F509-DC4C-B4B9-05CF0F4F6C4F}">
      <dsp:nvSpPr>
        <dsp:cNvPr id="0" name=""/>
        <dsp:cNvSpPr/>
      </dsp:nvSpPr>
      <dsp:spPr>
        <a:xfrm>
          <a:off x="838118" y="2184602"/>
          <a:ext cx="158059" cy="158212"/>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917F614-5443-2040-952F-2B4B346FE418}">
      <dsp:nvSpPr>
        <dsp:cNvPr id="0" name=""/>
        <dsp:cNvSpPr/>
      </dsp:nvSpPr>
      <dsp:spPr>
        <a:xfrm>
          <a:off x="75197" y="1413032"/>
          <a:ext cx="797964" cy="797709"/>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a:t>CICIDS2017</a:t>
          </a:r>
        </a:p>
      </dsp:txBody>
      <dsp:txXfrm>
        <a:off x="192056" y="1529854"/>
        <a:ext cx="564246" cy="564065"/>
      </dsp:txXfrm>
    </dsp:sp>
    <dsp:sp modelId="{C425359B-ABC7-E240-A783-017006256471}">
      <dsp:nvSpPr>
        <dsp:cNvPr id="0" name=""/>
        <dsp:cNvSpPr/>
      </dsp:nvSpPr>
      <dsp:spPr>
        <a:xfrm>
          <a:off x="1587533" y="1286462"/>
          <a:ext cx="218290" cy="218286"/>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866148C-C449-F942-8011-F7B81E207F73}">
      <dsp:nvSpPr>
        <dsp:cNvPr id="0" name=""/>
        <dsp:cNvSpPr/>
      </dsp:nvSpPr>
      <dsp:spPr>
        <a:xfrm>
          <a:off x="150029" y="2444620"/>
          <a:ext cx="394601" cy="394612"/>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7737CCB-962D-5742-B08B-1F839C4553BA}">
      <dsp:nvSpPr>
        <dsp:cNvPr id="0" name=""/>
        <dsp:cNvSpPr/>
      </dsp:nvSpPr>
      <dsp:spPr>
        <a:xfrm>
          <a:off x="2852377" y="1037680"/>
          <a:ext cx="797964" cy="797709"/>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CICIDS2018</a:t>
          </a:r>
          <a:endParaRPr lang="en-US" sz="800" kern="1200"/>
        </a:p>
      </dsp:txBody>
      <dsp:txXfrm>
        <a:off x="2969236" y="1154502"/>
        <a:ext cx="564246" cy="564065"/>
      </dsp:txXfrm>
    </dsp:sp>
    <dsp:sp modelId="{C8EF1746-6B83-A747-B7CA-4E8E775CDA73}">
      <dsp:nvSpPr>
        <dsp:cNvPr id="0" name=""/>
        <dsp:cNvSpPr/>
      </dsp:nvSpPr>
      <dsp:spPr>
        <a:xfrm>
          <a:off x="2496468" y="1588441"/>
          <a:ext cx="218290" cy="218286"/>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BF2596F-FBA6-4F4D-B88A-BDD9F839B339}">
      <dsp:nvSpPr>
        <dsp:cNvPr id="0" name=""/>
        <dsp:cNvSpPr/>
      </dsp:nvSpPr>
      <dsp:spPr>
        <a:xfrm>
          <a:off x="0" y="2914212"/>
          <a:ext cx="158059" cy="158212"/>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BA06810-AD40-7449-A16B-245B90DB6076}">
      <dsp:nvSpPr>
        <dsp:cNvPr id="0" name=""/>
        <dsp:cNvSpPr/>
      </dsp:nvSpPr>
      <dsp:spPr>
        <a:xfrm>
          <a:off x="1576217" y="2689047"/>
          <a:ext cx="158059" cy="158212"/>
        </a:xfrm>
        <a:prstGeom prst="ellipse">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BC28B7-22CF-2149-9FD1-51017DF98F35}">
      <dsp:nvSpPr>
        <dsp:cNvPr id="0" name=""/>
        <dsp:cNvSpPr/>
      </dsp:nvSpPr>
      <dsp:spPr>
        <a:xfrm>
          <a:off x="3968" y="2156276"/>
          <a:ext cx="1230312" cy="11061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endParaRPr lang="en-US" sz="2000" kern="1200"/>
        </a:p>
      </dsp:txBody>
      <dsp:txXfrm>
        <a:off x="36365" y="2188673"/>
        <a:ext cx="1165518" cy="1041320"/>
      </dsp:txXfrm>
    </dsp:sp>
    <dsp:sp modelId="{7F719E20-FD62-4A42-B9E5-5F2CB4C5D28D}">
      <dsp:nvSpPr>
        <dsp:cNvPr id="0" name=""/>
        <dsp:cNvSpPr/>
      </dsp:nvSpPr>
      <dsp:spPr>
        <a:xfrm>
          <a:off x="1357312" y="2556774"/>
          <a:ext cx="260826" cy="3051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357312" y="2617797"/>
        <a:ext cx="182578" cy="183071"/>
      </dsp:txXfrm>
    </dsp:sp>
    <dsp:sp modelId="{AB7555C0-CDFC-174C-B47B-47ACA6DE8649}">
      <dsp:nvSpPr>
        <dsp:cNvPr id="0" name=""/>
        <dsp:cNvSpPr/>
      </dsp:nvSpPr>
      <dsp:spPr>
        <a:xfrm>
          <a:off x="1726406" y="2156276"/>
          <a:ext cx="1230312" cy="11061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endParaRPr lang="en-US" sz="2000" kern="1200"/>
        </a:p>
      </dsp:txBody>
      <dsp:txXfrm>
        <a:off x="1758803" y="2188673"/>
        <a:ext cx="1165518" cy="1041320"/>
      </dsp:txXfrm>
    </dsp:sp>
    <dsp:sp modelId="{BDD5A6A8-FA05-F34E-9BDA-43FCC604C4C9}">
      <dsp:nvSpPr>
        <dsp:cNvPr id="0" name=""/>
        <dsp:cNvSpPr/>
      </dsp:nvSpPr>
      <dsp:spPr>
        <a:xfrm>
          <a:off x="3079750" y="2556774"/>
          <a:ext cx="260826" cy="3051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079750" y="2617797"/>
        <a:ext cx="182578" cy="183071"/>
      </dsp:txXfrm>
    </dsp:sp>
    <dsp:sp modelId="{38A91359-03E6-B64B-88C6-BA326E690416}">
      <dsp:nvSpPr>
        <dsp:cNvPr id="0" name=""/>
        <dsp:cNvSpPr/>
      </dsp:nvSpPr>
      <dsp:spPr>
        <a:xfrm>
          <a:off x="3448843" y="2156276"/>
          <a:ext cx="1230312" cy="11061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endParaRPr lang="en-US" sz="2000" kern="1200"/>
        </a:p>
      </dsp:txBody>
      <dsp:txXfrm>
        <a:off x="3481240" y="2188673"/>
        <a:ext cx="1165518" cy="1041320"/>
      </dsp:txXfrm>
    </dsp:sp>
    <dsp:sp modelId="{F6087F66-D2D0-B240-B680-4F2B0C377708}">
      <dsp:nvSpPr>
        <dsp:cNvPr id="0" name=""/>
        <dsp:cNvSpPr/>
      </dsp:nvSpPr>
      <dsp:spPr>
        <a:xfrm rot="20129050">
          <a:off x="4815101" y="2133519"/>
          <a:ext cx="353934" cy="3051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819227" y="2213533"/>
        <a:ext cx="262399" cy="183071"/>
      </dsp:txXfrm>
    </dsp:sp>
    <dsp:sp modelId="{3EC670F1-6A16-E34A-A671-F1A6A50D7D97}">
      <dsp:nvSpPr>
        <dsp:cNvPr id="0" name=""/>
        <dsp:cNvSpPr/>
      </dsp:nvSpPr>
      <dsp:spPr>
        <a:xfrm>
          <a:off x="5286753" y="1502042"/>
          <a:ext cx="1230312" cy="738187"/>
        </a:xfrm>
        <a:prstGeom prst="roundRect">
          <a:avLst>
            <a:gd name="adj" fmla="val 10000"/>
          </a:avLst>
        </a:prstGeom>
        <a:solidFill>
          <a:schemeClr val="accent6">
            <a:lumMod val="5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t>Attack</a:t>
          </a:r>
        </a:p>
      </dsp:txBody>
      <dsp:txXfrm>
        <a:off x="5308374" y="1523663"/>
        <a:ext cx="1187070" cy="694945"/>
      </dsp:txXfrm>
    </dsp:sp>
    <dsp:sp modelId="{E5B68AC7-A692-F148-9A1D-7F6F9616BA67}">
      <dsp:nvSpPr>
        <dsp:cNvPr id="0" name=""/>
        <dsp:cNvSpPr/>
      </dsp:nvSpPr>
      <dsp:spPr>
        <a:xfrm rot="1842246">
          <a:off x="4820871" y="2833818"/>
          <a:ext cx="311508" cy="3051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0">
            <a:lnSpc>
              <a:spcPct val="90000"/>
            </a:lnSpc>
            <a:spcBef>
              <a:spcPct val="0"/>
            </a:spcBef>
            <a:spcAft>
              <a:spcPct val="35000"/>
            </a:spcAft>
            <a:buNone/>
          </a:pPr>
          <a:endParaRPr lang="en-US" sz="1300" kern="1200"/>
        </a:p>
      </dsp:txBody>
      <dsp:txXfrm>
        <a:off x="4827287" y="2871472"/>
        <a:ext cx="219973" cy="183071"/>
      </dsp:txXfrm>
    </dsp:sp>
    <dsp:sp modelId="{71D4EEB9-C769-1048-8346-E5BB3A1F44E6}">
      <dsp:nvSpPr>
        <dsp:cNvPr id="0" name=""/>
        <dsp:cNvSpPr/>
      </dsp:nvSpPr>
      <dsp:spPr>
        <a:xfrm>
          <a:off x="5286758" y="2827982"/>
          <a:ext cx="1230312" cy="738187"/>
        </a:xfrm>
        <a:prstGeom prst="roundRect">
          <a:avLst>
            <a:gd name="adj" fmla="val 10000"/>
          </a:avLst>
        </a:prstGeom>
        <a:solidFill>
          <a:schemeClr val="accent3"/>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t>No Attack</a:t>
          </a:r>
        </a:p>
      </dsp:txBody>
      <dsp:txXfrm>
        <a:off x="5308379" y="2849603"/>
        <a:ext cx="1187070" cy="694945"/>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Q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F55EC0-C8FC-D640-883E-02EE79B5A81A}" type="datetimeFigureOut">
              <a:rPr lang="en-QA" smtClean="0"/>
              <a:t>2/9/25</a:t>
            </a:fld>
            <a:endParaRPr lang="en-Q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Q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Q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507DC4-44F8-F349-97EC-6896294A7009}" type="slidenum">
              <a:rPr lang="en-QA" smtClean="0"/>
              <a:t>‹#›</a:t>
            </a:fld>
            <a:endParaRPr lang="en-QA"/>
          </a:p>
        </p:txBody>
      </p:sp>
    </p:spTree>
    <p:extLst>
      <p:ext uri="{BB962C8B-B14F-4D97-AF65-F5344CB8AC3E}">
        <p14:creationId xmlns:p14="http://schemas.microsoft.com/office/powerpoint/2010/main" val="4166835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4507DC4-44F8-F349-97EC-6896294A7009}" type="slidenum">
              <a:rPr lang="en-QA" smtClean="0"/>
              <a:t>1</a:t>
            </a:fld>
            <a:endParaRPr lang="en-QA"/>
          </a:p>
        </p:txBody>
      </p:sp>
    </p:spTree>
    <p:extLst>
      <p:ext uri="{BB962C8B-B14F-4D97-AF65-F5344CB8AC3E}">
        <p14:creationId xmlns:p14="http://schemas.microsoft.com/office/powerpoint/2010/main" val="881028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4507DC4-44F8-F349-97EC-6896294A7009}" type="slidenum">
              <a:rPr lang="en-QA" smtClean="0"/>
              <a:t>3</a:t>
            </a:fld>
            <a:endParaRPr lang="en-QA"/>
          </a:p>
        </p:txBody>
      </p:sp>
    </p:spTree>
    <p:extLst>
      <p:ext uri="{BB962C8B-B14F-4D97-AF65-F5344CB8AC3E}">
        <p14:creationId xmlns:p14="http://schemas.microsoft.com/office/powerpoint/2010/main" val="3325701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4507DC4-44F8-F349-97EC-6896294A7009}" type="slidenum">
              <a:rPr lang="en-QA" smtClean="0"/>
              <a:t>4</a:t>
            </a:fld>
            <a:endParaRPr lang="en-QA"/>
          </a:p>
        </p:txBody>
      </p:sp>
    </p:spTree>
    <p:extLst>
      <p:ext uri="{BB962C8B-B14F-4D97-AF65-F5344CB8AC3E}">
        <p14:creationId xmlns:p14="http://schemas.microsoft.com/office/powerpoint/2010/main" val="2340191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DBE9B-EAF5-1527-A61A-81D8B4139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78A9B-D0BB-A727-9889-AB549D480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C629C4-9855-07D6-1C8D-668B52D14A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43CD39-A0E0-055C-7446-A94072D6F66F}"/>
              </a:ext>
            </a:extLst>
          </p:cNvPr>
          <p:cNvSpPr>
            <a:spLocks noGrp="1"/>
          </p:cNvSpPr>
          <p:nvPr>
            <p:ph type="sldNum" sz="quarter" idx="5"/>
          </p:nvPr>
        </p:nvSpPr>
        <p:spPr/>
        <p:txBody>
          <a:bodyPr/>
          <a:lstStyle/>
          <a:p>
            <a:fld id="{F4507DC4-44F8-F349-97EC-6896294A7009}" type="slidenum">
              <a:rPr lang="en-QA" smtClean="0"/>
              <a:t>5</a:t>
            </a:fld>
            <a:endParaRPr lang="en-QA"/>
          </a:p>
        </p:txBody>
      </p:sp>
    </p:spTree>
    <p:extLst>
      <p:ext uri="{BB962C8B-B14F-4D97-AF65-F5344CB8AC3E}">
        <p14:creationId xmlns:p14="http://schemas.microsoft.com/office/powerpoint/2010/main" val="996794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931B-D3C0-7DFF-AE57-3841707E9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3AD36-AAFE-11A4-FFED-409564DAC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6F0AE-2638-49DA-2757-112C98AA51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106043-27EF-868E-A600-815E01D95A35}"/>
              </a:ext>
            </a:extLst>
          </p:cNvPr>
          <p:cNvSpPr>
            <a:spLocks noGrp="1"/>
          </p:cNvSpPr>
          <p:nvPr>
            <p:ph type="sldNum" sz="quarter" idx="5"/>
          </p:nvPr>
        </p:nvSpPr>
        <p:spPr/>
        <p:txBody>
          <a:bodyPr/>
          <a:lstStyle/>
          <a:p>
            <a:fld id="{F4507DC4-44F8-F349-97EC-6896294A7009}" type="slidenum">
              <a:rPr lang="en-QA" smtClean="0"/>
              <a:t>6</a:t>
            </a:fld>
            <a:endParaRPr lang="en-QA"/>
          </a:p>
        </p:txBody>
      </p:sp>
    </p:spTree>
    <p:extLst>
      <p:ext uri="{BB962C8B-B14F-4D97-AF65-F5344CB8AC3E}">
        <p14:creationId xmlns:p14="http://schemas.microsoft.com/office/powerpoint/2010/main" val="2737266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AD156-7CCA-531E-708A-9045DED25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A0BE2-D3F8-11A4-E6FA-F539711C9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AA1E8-A7EB-0D7F-5B7D-22D19F0AD5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654DE4-5741-A25D-3043-E5541430C2FA}"/>
              </a:ext>
            </a:extLst>
          </p:cNvPr>
          <p:cNvSpPr>
            <a:spLocks noGrp="1"/>
          </p:cNvSpPr>
          <p:nvPr>
            <p:ph type="sldNum" sz="quarter" idx="5"/>
          </p:nvPr>
        </p:nvSpPr>
        <p:spPr/>
        <p:txBody>
          <a:bodyPr/>
          <a:lstStyle/>
          <a:p>
            <a:fld id="{F4507DC4-44F8-F349-97EC-6896294A7009}" type="slidenum">
              <a:rPr lang="en-QA" smtClean="0"/>
              <a:t>7</a:t>
            </a:fld>
            <a:endParaRPr lang="en-QA"/>
          </a:p>
        </p:txBody>
      </p:sp>
    </p:spTree>
    <p:extLst>
      <p:ext uri="{BB962C8B-B14F-4D97-AF65-F5344CB8AC3E}">
        <p14:creationId xmlns:p14="http://schemas.microsoft.com/office/powerpoint/2010/main" val="3549335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013DD-7C57-6186-FB11-56D6A9D54E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8CE7F-5716-C9CA-A8BC-47640824D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5C5CF-E624-027E-F637-B9505C6587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DCE67C-57D5-C383-CA55-7C014530C2AE}"/>
              </a:ext>
            </a:extLst>
          </p:cNvPr>
          <p:cNvSpPr>
            <a:spLocks noGrp="1"/>
          </p:cNvSpPr>
          <p:nvPr>
            <p:ph type="sldNum" sz="quarter" idx="5"/>
          </p:nvPr>
        </p:nvSpPr>
        <p:spPr/>
        <p:txBody>
          <a:bodyPr/>
          <a:lstStyle/>
          <a:p>
            <a:fld id="{F4507DC4-44F8-F349-97EC-6896294A7009}" type="slidenum">
              <a:rPr lang="en-QA" smtClean="0"/>
              <a:t>8</a:t>
            </a:fld>
            <a:endParaRPr lang="en-QA"/>
          </a:p>
        </p:txBody>
      </p:sp>
    </p:spTree>
    <p:extLst>
      <p:ext uri="{BB962C8B-B14F-4D97-AF65-F5344CB8AC3E}">
        <p14:creationId xmlns:p14="http://schemas.microsoft.com/office/powerpoint/2010/main" val="3533359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70680-5FEC-E658-C65E-3BA62AEB00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9EA84-E516-1F4D-32FE-E42A532723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9E3899-B3A6-67C9-A1C4-E7034AA1FD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763954-5083-99E0-734F-4C74287B4AEE}"/>
              </a:ext>
            </a:extLst>
          </p:cNvPr>
          <p:cNvSpPr>
            <a:spLocks noGrp="1"/>
          </p:cNvSpPr>
          <p:nvPr>
            <p:ph type="sldNum" sz="quarter" idx="5"/>
          </p:nvPr>
        </p:nvSpPr>
        <p:spPr/>
        <p:txBody>
          <a:bodyPr/>
          <a:lstStyle/>
          <a:p>
            <a:fld id="{F4507DC4-44F8-F349-97EC-6896294A7009}" type="slidenum">
              <a:rPr lang="en-QA" smtClean="0"/>
              <a:t>9</a:t>
            </a:fld>
            <a:endParaRPr lang="en-QA"/>
          </a:p>
        </p:txBody>
      </p:sp>
    </p:spTree>
    <p:extLst>
      <p:ext uri="{BB962C8B-B14F-4D97-AF65-F5344CB8AC3E}">
        <p14:creationId xmlns:p14="http://schemas.microsoft.com/office/powerpoint/2010/main" val="2877460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0B66A-E89E-ACAF-A4E4-55BECA14A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47E31-80FF-C5B2-0089-5EA980EFC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5BB3D-98CB-2792-77CA-208AB7729C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2311E8-D5D5-F67C-D68B-79D37729A347}"/>
              </a:ext>
            </a:extLst>
          </p:cNvPr>
          <p:cNvSpPr>
            <a:spLocks noGrp="1"/>
          </p:cNvSpPr>
          <p:nvPr>
            <p:ph type="sldNum" sz="quarter" idx="5"/>
          </p:nvPr>
        </p:nvSpPr>
        <p:spPr/>
        <p:txBody>
          <a:bodyPr/>
          <a:lstStyle/>
          <a:p>
            <a:fld id="{F4507DC4-44F8-F349-97EC-6896294A7009}" type="slidenum">
              <a:rPr lang="en-QA" smtClean="0"/>
              <a:t>10</a:t>
            </a:fld>
            <a:endParaRPr lang="en-QA"/>
          </a:p>
        </p:txBody>
      </p:sp>
    </p:spTree>
    <p:extLst>
      <p:ext uri="{BB962C8B-B14F-4D97-AF65-F5344CB8AC3E}">
        <p14:creationId xmlns:p14="http://schemas.microsoft.com/office/powerpoint/2010/main" val="1738575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066F4-E75C-E441-781B-10DD0C87B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29063-BC2F-A54D-815E-A4F52FE8C0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3B5CCA-CAF8-CD5B-4F87-4FDCEAE19D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6D75EC-F65C-D145-D4C1-960819BDAC98}"/>
              </a:ext>
            </a:extLst>
          </p:cNvPr>
          <p:cNvSpPr>
            <a:spLocks noGrp="1"/>
          </p:cNvSpPr>
          <p:nvPr>
            <p:ph type="sldNum" sz="quarter" idx="5"/>
          </p:nvPr>
        </p:nvSpPr>
        <p:spPr/>
        <p:txBody>
          <a:bodyPr/>
          <a:lstStyle/>
          <a:p>
            <a:fld id="{F4507DC4-44F8-F349-97EC-6896294A7009}" type="slidenum">
              <a:rPr lang="en-QA" smtClean="0"/>
              <a:t>11</a:t>
            </a:fld>
            <a:endParaRPr lang="en-QA"/>
          </a:p>
        </p:txBody>
      </p:sp>
    </p:spTree>
    <p:extLst>
      <p:ext uri="{BB962C8B-B14F-4D97-AF65-F5344CB8AC3E}">
        <p14:creationId xmlns:p14="http://schemas.microsoft.com/office/powerpoint/2010/main" val="2753953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CF1D1-0959-125D-F0B9-727936D95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03A4F-861E-7C86-58E2-7E828C065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3403E-49DA-17F6-28B8-1F8B0FDDB6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8B691AF-C204-B1E6-E66F-797CA5C1000F}"/>
              </a:ext>
            </a:extLst>
          </p:cNvPr>
          <p:cNvSpPr>
            <a:spLocks noGrp="1"/>
          </p:cNvSpPr>
          <p:nvPr>
            <p:ph type="sldNum" sz="quarter" idx="5"/>
          </p:nvPr>
        </p:nvSpPr>
        <p:spPr/>
        <p:txBody>
          <a:bodyPr/>
          <a:lstStyle/>
          <a:p>
            <a:fld id="{F4507DC4-44F8-F349-97EC-6896294A7009}" type="slidenum">
              <a:rPr lang="en-QA" smtClean="0"/>
              <a:t>12</a:t>
            </a:fld>
            <a:endParaRPr lang="en-QA"/>
          </a:p>
        </p:txBody>
      </p:sp>
    </p:spTree>
    <p:extLst>
      <p:ext uri="{BB962C8B-B14F-4D97-AF65-F5344CB8AC3E}">
        <p14:creationId xmlns:p14="http://schemas.microsoft.com/office/powerpoint/2010/main" val="498407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2717-23BE-B8D6-9022-6B582465D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66420-4220-48BB-47A3-6342326E7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C3EE9-6C4B-08FE-7E75-49C093D521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E3F741-176E-A2A0-E8EF-61F12A360BB0}"/>
              </a:ext>
            </a:extLst>
          </p:cNvPr>
          <p:cNvSpPr>
            <a:spLocks noGrp="1"/>
          </p:cNvSpPr>
          <p:nvPr>
            <p:ph type="sldNum" sz="quarter" idx="5"/>
          </p:nvPr>
        </p:nvSpPr>
        <p:spPr/>
        <p:txBody>
          <a:bodyPr/>
          <a:lstStyle/>
          <a:p>
            <a:fld id="{F4507DC4-44F8-F349-97EC-6896294A7009}" type="slidenum">
              <a:rPr lang="en-QA" smtClean="0"/>
              <a:t>13</a:t>
            </a:fld>
            <a:endParaRPr lang="en-QA"/>
          </a:p>
        </p:txBody>
      </p:sp>
    </p:spTree>
    <p:extLst>
      <p:ext uri="{BB962C8B-B14F-4D97-AF65-F5344CB8AC3E}">
        <p14:creationId xmlns:p14="http://schemas.microsoft.com/office/powerpoint/2010/main" val="42793636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8621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83044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52471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321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9219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0817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2692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290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6387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227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3578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C1FF6DA9-008F-8B48-92A6-B652298478BF}"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a:solidFill>
                  <a:schemeClr val="tx1"/>
                </a:solidFill>
                <a:effectLst/>
              </a:rPr>
              <a:t>”</a:t>
            </a:r>
          </a:p>
        </p:txBody>
      </p:sp>
    </p:spTree>
    <p:extLst>
      <p:ext uri="{BB962C8B-B14F-4D97-AF65-F5344CB8AC3E}">
        <p14:creationId xmlns:p14="http://schemas.microsoft.com/office/powerpoint/2010/main" val="564175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55395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7210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7411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64276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07126" y="5936187"/>
            <a:ext cx="2743200" cy="365125"/>
          </a:xfrm>
        </p:spPr>
        <p:txBody>
          <a:bodyPr/>
          <a:lstStyle/>
          <a:p>
            <a:fld id="{5BCAD085-E8A6-8845-BD4E-CB4CCA059FC4}" type="datetimeFigureOut">
              <a:rPr lang="en-US" smtClean="0"/>
              <a:t>2/9/25</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18830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2/9/25</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99192239"/>
      </p:ext>
    </p:extLst>
  </p:cSld>
  <p:clrMap bg1="dk1" tx1="lt1" bg2="dk2" tx2="lt2" accent1="accent1" accent2="accent2" accent3="accent3" accent4="accent4" accent5="accent5" accent6="accent6" hlink="hlink" folHlink="folHlink"/>
  <p:sldLayoutIdLst>
    <p:sldLayoutId id="2147484172" r:id="rId1"/>
    <p:sldLayoutId id="2147484173" r:id="rId2"/>
    <p:sldLayoutId id="2147484174" r:id="rId3"/>
    <p:sldLayoutId id="2147484175" r:id="rId4"/>
    <p:sldLayoutId id="2147484176" r:id="rId5"/>
    <p:sldLayoutId id="2147484177" r:id="rId6"/>
    <p:sldLayoutId id="2147484178" r:id="rId7"/>
    <p:sldLayoutId id="2147484179" r:id="rId8"/>
    <p:sldLayoutId id="2147484180" r:id="rId9"/>
    <p:sldLayoutId id="2147484181" r:id="rId10"/>
    <p:sldLayoutId id="2147484182" r:id="rId11"/>
    <p:sldLayoutId id="2147484183" r:id="rId12"/>
    <p:sldLayoutId id="2147484184" r:id="rId13"/>
    <p:sldLayoutId id="2147484185" r:id="rId14"/>
    <p:sldLayoutId id="2147484186" r:id="rId15"/>
    <p:sldLayoutId id="2147484187" r:id="rId16"/>
    <p:sldLayoutId id="2147484188"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image" Target="../media/image10.svg"/><Relationship Id="rId5" Type="http://schemas.openxmlformats.org/officeDocument/2006/relationships/diagramQuickStyle" Target="../diagrams/quickStyle3.xml"/><Relationship Id="rId10" Type="http://schemas.openxmlformats.org/officeDocument/2006/relationships/image" Target="../media/image9.png"/><Relationship Id="rId4" Type="http://schemas.openxmlformats.org/officeDocument/2006/relationships/diagramLayout" Target="../diagrams/layout3.xml"/><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F383800-5CEA-471E-91C6-604E9C8F9D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2077B291-934C-486F-A7DD-F7B7568BF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a:gradFill>
            <a:gsLst>
              <a:gs pos="0">
                <a:srgbClr val="F78925"/>
              </a:gs>
              <a:gs pos="50000">
                <a:srgbClr val="D54209"/>
              </a:gs>
              <a:gs pos="100000">
                <a:srgbClr val="8D0000"/>
              </a:gs>
            </a:gsLst>
            <a:lin ang="2520000" scaled="0"/>
          </a:gradFill>
        </p:spPr>
      </p:pic>
      <p:sp>
        <p:nvSpPr>
          <p:cNvPr id="25" name="Rectangle 24">
            <a:extLst>
              <a:ext uri="{FF2B5EF4-FFF2-40B4-BE49-F238E27FC236}">
                <a16:creationId xmlns:a16="http://schemas.microsoft.com/office/drawing/2014/main" id="{FE41C29D-0817-42AE-A275-5552F6926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57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1" name="Video 110" title="Cogs turning inside head outline">
            <a:hlinkClick r:id="" action="ppaction://media"/>
            <a:extLst>
              <a:ext uri="{FF2B5EF4-FFF2-40B4-BE49-F238E27FC236}">
                <a16:creationId xmlns:a16="http://schemas.microsoft.com/office/drawing/2014/main" id="{B4950D86-3908-BBA1-3195-211A3DE3FD8B}"/>
              </a:ext>
            </a:extLst>
          </p:cNvPr>
          <p:cNvPicPr>
            <a:picLocks noChangeAspect="1"/>
          </p:cNvPicPr>
          <p:nvPr>
            <a:videoFile r:link="rId2"/>
            <p:extLst>
              <p:ext uri="{DAA4B4D4-6D71-4841-9C94-3DE7FCFB9230}">
                <p14:media xmlns:p14="http://schemas.microsoft.com/office/powerpoint/2010/main" r:embed="rId1"/>
              </p:ext>
            </p:extLst>
          </p:nvPr>
        </p:nvPicPr>
        <p:blipFill>
          <a:blip r:embed="rId6">
            <a:duotone>
              <a:prstClr val="black"/>
              <a:schemeClr val="accent1">
                <a:tint val="45000"/>
                <a:satMod val="400000"/>
              </a:schemeClr>
            </a:duotone>
          </a:blip>
          <a:stretch>
            <a:fillRect/>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21AFE179-2F71-4019-9BED-8E72C0C07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4557357"/>
            <a:ext cx="8978671" cy="1660332"/>
          </a:xfrm>
          <a:prstGeom prst="rect">
            <a:avLst/>
          </a:prstGeom>
          <a:solidFill>
            <a:srgbClr val="0D0D0D">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58C42AC-EAF8-71F3-EABB-10B10E03CDDF}"/>
              </a:ext>
            </a:extLst>
          </p:cNvPr>
          <p:cNvSpPr>
            <a:spLocks noGrp="1"/>
          </p:cNvSpPr>
          <p:nvPr>
            <p:ph type="ctrTitle"/>
          </p:nvPr>
        </p:nvSpPr>
        <p:spPr>
          <a:xfrm>
            <a:off x="846781" y="5179998"/>
            <a:ext cx="8133478" cy="940240"/>
          </a:xfrm>
        </p:spPr>
        <p:txBody>
          <a:bodyPr>
            <a:normAutofit fontScale="90000"/>
          </a:bodyPr>
          <a:lstStyle/>
          <a:p>
            <a:r>
              <a:rPr lang="en-US" sz="3400" dirty="0">
                <a:solidFill>
                  <a:srgbClr val="FFFFFF"/>
                </a:solidFill>
              </a:rPr>
              <a:t>AI-Based Intrusion Detection System</a:t>
            </a:r>
            <a:br>
              <a:rPr lang="en-US" sz="3400" dirty="0">
                <a:solidFill>
                  <a:srgbClr val="FFFFFF"/>
                </a:solidFill>
              </a:rPr>
            </a:br>
            <a:br>
              <a:rPr lang="en-US" sz="3400" dirty="0">
                <a:solidFill>
                  <a:srgbClr val="FFFFFF"/>
                </a:solidFill>
              </a:rPr>
            </a:br>
            <a:r>
              <a:rPr lang="en-US" sz="2000" dirty="0">
                <a:solidFill>
                  <a:srgbClr val="FFFFFF"/>
                </a:solidFill>
              </a:rPr>
              <a:t>Gokul </a:t>
            </a:r>
            <a:r>
              <a:rPr lang="en-US" sz="2000" dirty="0" err="1">
                <a:solidFill>
                  <a:srgbClr val="FFFFFF"/>
                </a:solidFill>
              </a:rPr>
              <a:t>Athikavil</a:t>
            </a:r>
            <a:r>
              <a:rPr lang="en-US" sz="2000" dirty="0">
                <a:solidFill>
                  <a:srgbClr val="FFFFFF"/>
                </a:solidFill>
              </a:rPr>
              <a:t> Shaji</a:t>
            </a:r>
            <a:br>
              <a:rPr lang="en-US" sz="2000" dirty="0">
                <a:solidFill>
                  <a:srgbClr val="FFFFFF"/>
                </a:solidFill>
              </a:rPr>
            </a:br>
            <a:r>
              <a:rPr lang="en-US" sz="2000" dirty="0" err="1">
                <a:solidFill>
                  <a:srgbClr val="FFFFFF"/>
                </a:solidFill>
              </a:rPr>
              <a:t>Saathvika</a:t>
            </a:r>
            <a:r>
              <a:rPr lang="en-US" sz="2000" dirty="0">
                <a:solidFill>
                  <a:srgbClr val="FFFFFF"/>
                </a:solidFill>
              </a:rPr>
              <a:t> Prasad</a:t>
            </a:r>
            <a:endParaRPr lang="en-QA" sz="3400">
              <a:solidFill>
                <a:srgbClr val="FFFFFF"/>
              </a:solidFill>
            </a:endParaRPr>
          </a:p>
        </p:txBody>
      </p:sp>
      <p:sp>
        <p:nvSpPr>
          <p:cNvPr id="3" name="Subtitle 2">
            <a:extLst>
              <a:ext uri="{FF2B5EF4-FFF2-40B4-BE49-F238E27FC236}">
                <a16:creationId xmlns:a16="http://schemas.microsoft.com/office/drawing/2014/main" id="{8EA28589-8EE6-2C5B-5E85-85C6E1DB45A1}"/>
              </a:ext>
            </a:extLst>
          </p:cNvPr>
          <p:cNvSpPr>
            <a:spLocks noGrp="1"/>
          </p:cNvSpPr>
          <p:nvPr>
            <p:ph type="subTitle" idx="1"/>
          </p:nvPr>
        </p:nvSpPr>
        <p:spPr>
          <a:xfrm>
            <a:off x="690908" y="5650118"/>
            <a:ext cx="8133478" cy="406566"/>
          </a:xfrm>
        </p:spPr>
        <p:txBody>
          <a:bodyPr>
            <a:normAutofit/>
          </a:bodyPr>
          <a:lstStyle/>
          <a:p>
            <a:pPr marL="0" indent="0">
              <a:buNone/>
            </a:pPr>
            <a:endParaRPr lang="en-US" sz="1800" i="1">
              <a:solidFill>
                <a:srgbClr val="FFFFFF"/>
              </a:solidFill>
            </a:endParaRPr>
          </a:p>
          <a:p>
            <a:endParaRPr lang="en-QA" sz="1800">
              <a:solidFill>
                <a:srgbClr val="FFFFFF"/>
              </a:solidFill>
            </a:endParaRPr>
          </a:p>
        </p:txBody>
      </p:sp>
      <p:sp>
        <p:nvSpPr>
          <p:cNvPr id="36" name="Rectangle 35">
            <a:extLst>
              <a:ext uri="{FF2B5EF4-FFF2-40B4-BE49-F238E27FC236}">
                <a16:creationId xmlns:a16="http://schemas.microsoft.com/office/drawing/2014/main" id="{333AFE41-7E9F-4E28-8263-5B498AA7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22301" y="4557357"/>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8" name="Rectangle 37">
            <a:extLst>
              <a:ext uri="{FF2B5EF4-FFF2-40B4-BE49-F238E27FC236}">
                <a16:creationId xmlns:a16="http://schemas.microsoft.com/office/drawing/2014/main" id="{C553E99F-4FAF-422B-B3EA-84AF1AA08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6" y="6210130"/>
            <a:ext cx="8968085" cy="275942"/>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214FAEF-3E6C-41BB-9945-719809A69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22301" y="6210130"/>
            <a:ext cx="3080285" cy="275942"/>
          </a:xfrm>
          <a:prstGeom prst="rect">
            <a:avLst/>
          </a:prstGeom>
          <a:blipFill>
            <a:blip r:embed="rId8"/>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072731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34" fill="hold"/>
                                        <p:tgtEl>
                                          <p:spTgt spid="111"/>
                                        </p:tgtEl>
                                      </p:cBhvr>
                                    </p:cmd>
                                  </p:childTnLst>
                                </p:cTn>
                              </p:par>
                              <p:par>
                                <p:cTn id="7" presetID="10" presetClass="entr" presetSubtype="0" fill="hold" grpId="0" nodeType="withEffect">
                                  <p:stCondLst>
                                    <p:cond delay="1000"/>
                                  </p:stCondLst>
                                  <p:iterate>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0" repeatCount="indefinite" fill="hold" display="0">
                  <p:stCondLst>
                    <p:cond delay="indefinite"/>
                  </p:stCondLst>
                </p:cTn>
                <p:tgtEl>
                  <p:spTgt spid="111"/>
                </p:tgtEl>
              </p:cMediaNode>
            </p:video>
            <p:seq concurrent="1" nextAc="seek">
              <p:cTn id="11" restart="whenNotActive" fill="hold" evtFilter="cancelBubble" nodeType="interactiveSeq">
                <p:stCondLst>
                  <p:cond evt="onClick" delay="0">
                    <p:tgtEl>
                      <p:spTgt spid="111"/>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11"/>
                                        </p:tgtEl>
                                      </p:cBhvr>
                                    </p:cmd>
                                  </p:childTnLst>
                                </p:cTn>
                              </p:par>
                            </p:childTnLst>
                          </p:cTn>
                        </p:par>
                      </p:childTnLst>
                    </p:cTn>
                  </p:par>
                </p:childTnLst>
              </p:cTn>
              <p:nextCondLst>
                <p:cond evt="onClick" delay="0">
                  <p:tgtEl>
                    <p:spTgt spid="111"/>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17341052-73F2-435C-A1F0-70961D11B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A4D2D0F6-68B7-4A2F-B80D-B3AAC1F4DC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sp>
        <p:nvSpPr>
          <p:cNvPr id="45" name="Rectangle 44">
            <a:extLst>
              <a:ext uri="{FF2B5EF4-FFF2-40B4-BE49-F238E27FC236}">
                <a16:creationId xmlns:a16="http://schemas.microsoft.com/office/drawing/2014/main" id="{A0BCEF11-98AA-4EF8-91CF-8146F64793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10437812" cy="1368198"/>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80321" y="753228"/>
            <a:ext cx="9613861" cy="1080938"/>
          </a:xfrm>
        </p:spPr>
        <p:txBody>
          <a:bodyPr>
            <a:normAutofit/>
          </a:bodyPr>
          <a:lstStyle/>
          <a:p>
            <a:r>
              <a:rPr lang="en-US" b="1"/>
              <a:t>Introduction</a:t>
            </a:r>
          </a:p>
        </p:txBody>
      </p:sp>
      <p:pic>
        <p:nvPicPr>
          <p:cNvPr id="47" name="Picture 46">
            <a:extLst>
              <a:ext uri="{FF2B5EF4-FFF2-40B4-BE49-F238E27FC236}">
                <a16:creationId xmlns:a16="http://schemas.microsoft.com/office/drawing/2014/main" id="{DB816C00-E2A2-4A28-A8CB-2E9E10E9FDF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49" name="Rectangle 48">
            <a:extLst>
              <a:ext uri="{FF2B5EF4-FFF2-40B4-BE49-F238E27FC236}">
                <a16:creationId xmlns:a16="http://schemas.microsoft.com/office/drawing/2014/main" id="{B2892C6A-FAAA-49A9-B836-6ECC4D48D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Content Placeholder 2"/>
          <p:cNvSpPr>
            <a:spLocks noGrp="1"/>
          </p:cNvSpPr>
          <p:nvPr>
            <p:ph idx="1"/>
          </p:nvPr>
        </p:nvSpPr>
        <p:spPr>
          <a:xfrm>
            <a:off x="680321" y="2336873"/>
            <a:ext cx="9613861" cy="3395060"/>
          </a:xfrm>
        </p:spPr>
        <p:txBody>
          <a:bodyPr anchor="ctr">
            <a:normAutofit/>
          </a:bodyPr>
          <a:lstStyle/>
          <a:p>
            <a:pPr marL="0" indent="0">
              <a:buNone/>
            </a:pPr>
            <a:r>
              <a:rPr lang="en-US" sz="2000" b="1">
                <a:solidFill>
                  <a:schemeClr val="bg1"/>
                </a:solidFill>
              </a:rPr>
              <a:t>Problem Statement:</a:t>
            </a:r>
          </a:p>
          <a:p>
            <a:pPr marL="0" indent="0">
              <a:lnSpc>
                <a:spcPct val="150000"/>
              </a:lnSpc>
              <a:buNone/>
            </a:pPr>
            <a:r>
              <a:rPr lang="en-US" sz="1600">
                <a:solidFill>
                  <a:schemeClr val="bg1">
                    <a:lumMod val="85000"/>
                    <a:lumOff val="15000"/>
                  </a:schemeClr>
                </a:solidFill>
              </a:rPr>
              <a:t>Traditional Intrusion Detection Systems (IDS) struggle with high false positives and low recall, making them ineffective against evolving cyber threats. This study proposes a multi-stage IDS framework using machine learning to improve anomaly detection, attack classification, and zero-day threat identification, enhancing accuracy and reducing false positives. It aims to evaluate the effectiveness of different machine learning models and thresholding techniques to optimize IDS performance for real-world cybersecurity applications.</a:t>
            </a:r>
          </a:p>
          <a:p>
            <a:pPr marL="0" indent="0">
              <a:buNone/>
            </a:pPr>
            <a:endParaRPr lang="en-US" sz="2000" b="1">
              <a:solidFill>
                <a:schemeClr val="bg1"/>
              </a:solidFill>
            </a:endParaRPr>
          </a:p>
        </p:txBody>
      </p:sp>
      <p:sp>
        <p:nvSpPr>
          <p:cNvPr id="3" name="Rectangle 1">
            <a:extLst>
              <a:ext uri="{FF2B5EF4-FFF2-40B4-BE49-F238E27FC236}">
                <a16:creationId xmlns:a16="http://schemas.microsoft.com/office/drawing/2014/main" id="{BD6B81EF-764D-DD91-C6A2-12970CE903D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Problem Statement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Arial" panose="020B0604020202020204" pitchFamily="34" charset="0"/>
              </a:rPr>
              <a:t>Traditional Intrusion Detection Systems (IDS) struggle with high false positives and low recall, making them ineffective against evolving cyber threats. This study proposes a multi-stage IDS framework using machine learning to improve anomaly detection, attack classification, and zero-day threat identification, enhancing accuracy and reducing false positives.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D5191-4DCD-A4F7-6F79-81C991F43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16FEE-583B-1D59-789A-5A966E6EFFBD}"/>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6" name="Content Placeholder 5">
            <a:extLst>
              <a:ext uri="{FF2B5EF4-FFF2-40B4-BE49-F238E27FC236}">
                <a16:creationId xmlns:a16="http://schemas.microsoft.com/office/drawing/2014/main" id="{9DB37238-FEAF-2037-8128-C8EB5B66B62C}"/>
              </a:ext>
            </a:extLst>
          </p:cNvPr>
          <p:cNvSpPr>
            <a:spLocks noGrp="1"/>
          </p:cNvSpPr>
          <p:nvPr>
            <p:ph idx="1"/>
          </p:nvPr>
        </p:nvSpPr>
        <p:spPr>
          <a:xfrm>
            <a:off x="295805" y="2401171"/>
            <a:ext cx="7298907" cy="1293658"/>
          </a:xfrm>
        </p:spPr>
        <p:txBody>
          <a:bodyPr>
            <a:normAutofit/>
          </a:bodyPr>
          <a:lstStyle/>
          <a:p>
            <a:pPr algn="l">
              <a:lnSpc>
                <a:spcPct val="160000"/>
              </a:lnSpc>
            </a:pPr>
            <a:r>
              <a:rPr lang="en-US" sz="1600" b="1">
                <a:solidFill>
                  <a:schemeClr val="bg1">
                    <a:lumMod val="85000"/>
                    <a:lumOff val="15000"/>
                  </a:schemeClr>
                </a:solidFill>
              </a:rPr>
              <a:t>Layered Approach</a:t>
            </a:r>
            <a:r>
              <a:rPr lang="en-US" sz="1600">
                <a:solidFill>
                  <a:schemeClr val="bg1">
                    <a:lumMod val="85000"/>
                    <a:lumOff val="15000"/>
                  </a:schemeClr>
                </a:solidFill>
              </a:rPr>
              <a:t>:</a:t>
            </a:r>
            <a:br>
              <a:rPr lang="en-US" sz="1600">
                <a:solidFill>
                  <a:schemeClr val="bg1">
                    <a:lumMod val="85000"/>
                    <a:lumOff val="15000"/>
                  </a:schemeClr>
                </a:solidFill>
              </a:rPr>
            </a:br>
            <a:r>
              <a:rPr lang="en-US" sz="1600">
                <a:solidFill>
                  <a:schemeClr val="bg1">
                    <a:lumMod val="85000"/>
                    <a:lumOff val="15000"/>
                  </a:schemeClr>
                </a:solidFill>
              </a:rPr>
              <a:t>Combines anomaly detection, known attack classification, and zero-day threat identification for robust intrusion detection.</a:t>
            </a:r>
          </a:p>
        </p:txBody>
      </p:sp>
      <p:graphicFrame>
        <p:nvGraphicFramePr>
          <p:cNvPr id="5" name="Diagram 4">
            <a:extLst>
              <a:ext uri="{FF2B5EF4-FFF2-40B4-BE49-F238E27FC236}">
                <a16:creationId xmlns:a16="http://schemas.microsoft.com/office/drawing/2014/main" id="{28449D20-F8BF-5A5C-E303-4C15DA713648}"/>
              </a:ext>
            </a:extLst>
          </p:cNvPr>
          <p:cNvGraphicFramePr/>
          <p:nvPr>
            <p:extLst>
              <p:ext uri="{D42A27DB-BD31-4B8C-83A1-F6EECF244321}">
                <p14:modId xmlns:p14="http://schemas.microsoft.com/office/powerpoint/2010/main" val="2319629727"/>
              </p:ext>
            </p:extLst>
          </p:nvPr>
        </p:nvGraphicFramePr>
        <p:xfrm>
          <a:off x="7712453" y="3135085"/>
          <a:ext cx="5163458" cy="32238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D8690E52-453D-2948-7536-613580620970}"/>
              </a:ext>
            </a:extLst>
          </p:cNvPr>
          <p:cNvGraphicFramePr/>
          <p:nvPr>
            <p:extLst>
              <p:ext uri="{D42A27DB-BD31-4B8C-83A1-F6EECF244321}">
                <p14:modId xmlns:p14="http://schemas.microsoft.com/office/powerpoint/2010/main" val="1124882864"/>
              </p:ext>
            </p:extLst>
          </p:nvPr>
        </p:nvGraphicFramePr>
        <p:xfrm>
          <a:off x="4902201" y="2822312"/>
          <a:ext cx="3650342" cy="423163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TextBox 8">
            <a:extLst>
              <a:ext uri="{FF2B5EF4-FFF2-40B4-BE49-F238E27FC236}">
                <a16:creationId xmlns:a16="http://schemas.microsoft.com/office/drawing/2014/main" id="{19C1BAD6-7846-0354-3745-A309EC3C230E}"/>
              </a:ext>
            </a:extLst>
          </p:cNvPr>
          <p:cNvSpPr txBox="1"/>
          <p:nvPr/>
        </p:nvSpPr>
        <p:spPr>
          <a:xfrm>
            <a:off x="295805" y="3906381"/>
            <a:ext cx="4129315" cy="267297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b="1">
                <a:solidFill>
                  <a:schemeClr val="bg1">
                    <a:lumMod val="85000"/>
                    <a:lumOff val="15000"/>
                  </a:schemeClr>
                </a:solidFill>
              </a:rPr>
              <a:t>Tailored for OT Environments:</a:t>
            </a:r>
            <a:br>
              <a:rPr lang="en-US" sz="1600">
                <a:solidFill>
                  <a:schemeClr val="bg1">
                    <a:lumMod val="85000"/>
                    <a:lumOff val="15000"/>
                  </a:schemeClr>
                </a:solidFill>
              </a:rPr>
            </a:br>
            <a:r>
              <a:rPr lang="en-US" sz="1600">
                <a:solidFill>
                  <a:schemeClr val="bg1">
                    <a:lumMod val="85000"/>
                    <a:lumOff val="15000"/>
                  </a:schemeClr>
                </a:solidFill>
              </a:rPr>
              <a:t>Designed to address the unique security challenges of OT systems, with training focused on Industrial Control Systems datasets for precise and reliable protection.</a:t>
            </a:r>
          </a:p>
          <a:p>
            <a:pPr>
              <a:lnSpc>
                <a:spcPct val="150000"/>
              </a:lnSpc>
            </a:pPr>
            <a:endParaRPr lang="en-US"/>
          </a:p>
        </p:txBody>
      </p:sp>
    </p:spTree>
    <p:extLst>
      <p:ext uri="{BB962C8B-B14F-4D97-AF65-F5344CB8AC3E}">
        <p14:creationId xmlns:p14="http://schemas.microsoft.com/office/powerpoint/2010/main" val="3546298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7B5A9-EA80-D4AE-4ED5-BDBC7F790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D5C8C-95FE-0093-B10F-DB34901C31A1}"/>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4" name="Content Placeholder 3">
            <a:extLst>
              <a:ext uri="{FF2B5EF4-FFF2-40B4-BE49-F238E27FC236}">
                <a16:creationId xmlns:a16="http://schemas.microsoft.com/office/drawing/2014/main" id="{2046171F-7BE3-12DC-CACE-F5DB6F7D87B2}"/>
              </a:ext>
            </a:extLst>
          </p:cNvPr>
          <p:cNvSpPr>
            <a:spLocks noGrp="1"/>
          </p:cNvSpPr>
          <p:nvPr>
            <p:ph idx="1"/>
          </p:nvPr>
        </p:nvSpPr>
        <p:spPr>
          <a:xfrm>
            <a:off x="843605" y="5014887"/>
            <a:ext cx="10590749" cy="1647298"/>
          </a:xfrm>
        </p:spPr>
        <p:txBody>
          <a:bodyPr>
            <a:normAutofit/>
          </a:bodyPr>
          <a:lstStyle/>
          <a:p>
            <a:r>
              <a:rPr lang="en-US" sz="1800">
                <a:solidFill>
                  <a:schemeClr val="bg1"/>
                </a:solidFill>
              </a:rPr>
              <a:t>The captured network traffic data is analyzed by a model selector.</a:t>
            </a:r>
          </a:p>
          <a:p>
            <a:r>
              <a:rPr lang="en-US" sz="1800">
                <a:solidFill>
                  <a:schemeClr val="bg1"/>
                </a:solidFill>
              </a:rPr>
              <a:t>The model selector identifies the appropriate models and thresholds based on traffic characteristics.</a:t>
            </a:r>
          </a:p>
          <a:p>
            <a:r>
              <a:rPr lang="en-US" sz="1800">
                <a:solidFill>
                  <a:schemeClr val="bg1"/>
                </a:solidFill>
              </a:rPr>
              <a:t>The IDS applies the selected models and thresholds to determine if the traffic is benign or an attack.</a:t>
            </a:r>
            <a:endParaRPr lang="en-US" sz="1800" b="1">
              <a:solidFill>
                <a:schemeClr val="bg1"/>
              </a:solidFill>
            </a:endParaRPr>
          </a:p>
        </p:txBody>
      </p:sp>
      <p:sp>
        <p:nvSpPr>
          <p:cNvPr id="5" name="Content Placeholder 3">
            <a:extLst>
              <a:ext uri="{FF2B5EF4-FFF2-40B4-BE49-F238E27FC236}">
                <a16:creationId xmlns:a16="http://schemas.microsoft.com/office/drawing/2014/main" id="{6AD2E291-FBD1-1118-0BA5-9E26C7282DE0}"/>
              </a:ext>
            </a:extLst>
          </p:cNvPr>
          <p:cNvSpPr txBox="1">
            <a:spLocks/>
          </p:cNvSpPr>
          <p:nvPr/>
        </p:nvSpPr>
        <p:spPr>
          <a:xfrm>
            <a:off x="843605" y="2254312"/>
            <a:ext cx="9613861" cy="16472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b="1">
                <a:solidFill>
                  <a:schemeClr val="accent1"/>
                </a:solidFill>
              </a:rPr>
              <a:t>How it Works ?</a:t>
            </a:r>
            <a:endParaRPr lang="en-US" b="1">
              <a:solidFill>
                <a:schemeClr val="accent1"/>
              </a:solidFill>
            </a:endParaRPr>
          </a:p>
        </p:txBody>
      </p:sp>
      <p:graphicFrame>
        <p:nvGraphicFramePr>
          <p:cNvPr id="6" name="Diagram 5">
            <a:extLst>
              <a:ext uri="{FF2B5EF4-FFF2-40B4-BE49-F238E27FC236}">
                <a16:creationId xmlns:a16="http://schemas.microsoft.com/office/drawing/2014/main" id="{D17E0AF2-E196-D318-1CB4-9B88A498F3C9}"/>
              </a:ext>
            </a:extLst>
          </p:cNvPr>
          <p:cNvGraphicFramePr/>
          <p:nvPr>
            <p:extLst>
              <p:ext uri="{D42A27DB-BD31-4B8C-83A1-F6EECF244321}">
                <p14:modId xmlns:p14="http://schemas.microsoft.com/office/powerpoint/2010/main" val="3451596501"/>
              </p:ext>
            </p:extLst>
          </p:nvPr>
        </p:nvGraphicFramePr>
        <p:xfrm>
          <a:off x="2616275" y="918279"/>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Graphic 10" descr="Database with solid fill">
            <a:extLst>
              <a:ext uri="{FF2B5EF4-FFF2-40B4-BE49-F238E27FC236}">
                <a16:creationId xmlns:a16="http://schemas.microsoft.com/office/drawing/2014/main" id="{EE8B8F49-9ACA-ECAA-A527-E94F98C0D62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17571" y="3190483"/>
            <a:ext cx="914400" cy="914400"/>
          </a:xfrm>
          <a:prstGeom prst="rect">
            <a:avLst/>
          </a:prstGeom>
        </p:spPr>
      </p:pic>
      <p:pic>
        <p:nvPicPr>
          <p:cNvPr id="13" name="Graphic 12" descr="Blockchain with solid fill">
            <a:extLst>
              <a:ext uri="{FF2B5EF4-FFF2-40B4-BE49-F238E27FC236}">
                <a16:creationId xmlns:a16="http://schemas.microsoft.com/office/drawing/2014/main" id="{FB54F111-14F3-5286-847D-314E68CEDC2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23075" y="3170412"/>
            <a:ext cx="914400" cy="914400"/>
          </a:xfrm>
          <a:prstGeom prst="rect">
            <a:avLst/>
          </a:prstGeom>
        </p:spPr>
      </p:pic>
      <p:pic>
        <p:nvPicPr>
          <p:cNvPr id="15" name="Graphic 14" descr="Network diagram with solid fill">
            <a:extLst>
              <a:ext uri="{FF2B5EF4-FFF2-40B4-BE49-F238E27FC236}">
                <a16:creationId xmlns:a16="http://schemas.microsoft.com/office/drawing/2014/main" id="{1E7EC18A-E172-6204-26AB-9EF76DC4CE0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786741" y="3203224"/>
            <a:ext cx="914400" cy="914400"/>
          </a:xfrm>
          <a:prstGeom prst="rect">
            <a:avLst/>
          </a:prstGeom>
        </p:spPr>
      </p:pic>
      <p:sp>
        <p:nvSpPr>
          <p:cNvPr id="16" name="TextBox 15">
            <a:extLst>
              <a:ext uri="{FF2B5EF4-FFF2-40B4-BE49-F238E27FC236}">
                <a16:creationId xmlns:a16="http://schemas.microsoft.com/office/drawing/2014/main" id="{F721F50E-B06A-1664-36EC-29F1AE417F7C}"/>
              </a:ext>
            </a:extLst>
          </p:cNvPr>
          <p:cNvSpPr txBox="1"/>
          <p:nvPr/>
        </p:nvSpPr>
        <p:spPr>
          <a:xfrm>
            <a:off x="2499915" y="4188485"/>
            <a:ext cx="1443024" cy="338554"/>
          </a:xfrm>
          <a:prstGeom prst="rect">
            <a:avLst/>
          </a:prstGeom>
          <a:noFill/>
        </p:spPr>
        <p:txBody>
          <a:bodyPr wrap="none" rtlCol="0">
            <a:spAutoFit/>
          </a:bodyPr>
          <a:lstStyle/>
          <a:p>
            <a:r>
              <a:rPr lang="en-US" sz="1600">
                <a:solidFill>
                  <a:schemeClr val="bg1">
                    <a:lumMod val="85000"/>
                    <a:lumOff val="15000"/>
                  </a:schemeClr>
                </a:solidFill>
              </a:rPr>
              <a:t>Network Data</a:t>
            </a:r>
          </a:p>
        </p:txBody>
      </p:sp>
      <p:sp>
        <p:nvSpPr>
          <p:cNvPr id="17" name="TextBox 16">
            <a:extLst>
              <a:ext uri="{FF2B5EF4-FFF2-40B4-BE49-F238E27FC236}">
                <a16:creationId xmlns:a16="http://schemas.microsoft.com/office/drawing/2014/main" id="{92DE17DC-6B32-9B25-D968-DD5F051D298C}"/>
              </a:ext>
            </a:extLst>
          </p:cNvPr>
          <p:cNvSpPr txBox="1"/>
          <p:nvPr/>
        </p:nvSpPr>
        <p:spPr>
          <a:xfrm>
            <a:off x="4214524" y="4193798"/>
            <a:ext cx="1548822" cy="338554"/>
          </a:xfrm>
          <a:prstGeom prst="rect">
            <a:avLst/>
          </a:prstGeom>
          <a:noFill/>
        </p:spPr>
        <p:txBody>
          <a:bodyPr wrap="none" rtlCol="0">
            <a:spAutoFit/>
          </a:bodyPr>
          <a:lstStyle/>
          <a:p>
            <a:pPr algn="ctr"/>
            <a:r>
              <a:rPr lang="en-US" sz="1600">
                <a:solidFill>
                  <a:schemeClr val="bg1">
                    <a:lumMod val="85000"/>
                    <a:lumOff val="15000"/>
                  </a:schemeClr>
                </a:solidFill>
              </a:rPr>
              <a:t>Model Selector</a:t>
            </a:r>
          </a:p>
        </p:txBody>
      </p:sp>
      <p:sp>
        <p:nvSpPr>
          <p:cNvPr id="18" name="TextBox 17">
            <a:extLst>
              <a:ext uri="{FF2B5EF4-FFF2-40B4-BE49-F238E27FC236}">
                <a16:creationId xmlns:a16="http://schemas.microsoft.com/office/drawing/2014/main" id="{D5AABC5B-E49E-FC23-4327-9C9F4D96153E}"/>
              </a:ext>
            </a:extLst>
          </p:cNvPr>
          <p:cNvSpPr txBox="1"/>
          <p:nvPr/>
        </p:nvSpPr>
        <p:spPr>
          <a:xfrm>
            <a:off x="6424305" y="4199111"/>
            <a:ext cx="468397" cy="338554"/>
          </a:xfrm>
          <a:prstGeom prst="rect">
            <a:avLst/>
          </a:prstGeom>
          <a:noFill/>
        </p:spPr>
        <p:txBody>
          <a:bodyPr wrap="none" rtlCol="0">
            <a:spAutoFit/>
          </a:bodyPr>
          <a:lstStyle/>
          <a:p>
            <a:pPr algn="ctr"/>
            <a:r>
              <a:rPr lang="en-US" sz="1600">
                <a:solidFill>
                  <a:schemeClr val="bg1">
                    <a:lumMod val="85000"/>
                    <a:lumOff val="15000"/>
                  </a:schemeClr>
                </a:solidFill>
              </a:rPr>
              <a:t>IDS</a:t>
            </a:r>
          </a:p>
        </p:txBody>
      </p:sp>
    </p:spTree>
    <p:extLst>
      <p:ext uri="{BB962C8B-B14F-4D97-AF65-F5344CB8AC3E}">
        <p14:creationId xmlns:p14="http://schemas.microsoft.com/office/powerpoint/2010/main" val="2258578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960DA-CE32-1AE3-54CC-C57563F0D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A95D8-C5B7-EBBD-97C0-0FCF80D4E6E6}"/>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4" name="Content Placeholder 3">
            <a:extLst>
              <a:ext uri="{FF2B5EF4-FFF2-40B4-BE49-F238E27FC236}">
                <a16:creationId xmlns:a16="http://schemas.microsoft.com/office/drawing/2014/main" id="{5C88AF14-4BA6-8BDD-B3F0-CE80795AF95E}"/>
              </a:ext>
            </a:extLst>
          </p:cNvPr>
          <p:cNvSpPr>
            <a:spLocks noGrp="1"/>
          </p:cNvSpPr>
          <p:nvPr>
            <p:ph idx="1"/>
          </p:nvPr>
        </p:nvSpPr>
        <p:spPr>
          <a:xfrm>
            <a:off x="582351" y="2143493"/>
            <a:ext cx="7614592" cy="3992388"/>
          </a:xfrm>
        </p:spPr>
        <p:txBody>
          <a:bodyPr>
            <a:noAutofit/>
          </a:bodyPr>
          <a:lstStyle/>
          <a:p>
            <a:pPr marL="0" indent="0">
              <a:lnSpc>
                <a:spcPct val="150000"/>
              </a:lnSpc>
              <a:buNone/>
            </a:pPr>
            <a:r>
              <a:rPr lang="en-US" b="1">
                <a:solidFill>
                  <a:schemeClr val="bg1">
                    <a:lumMod val="85000"/>
                    <a:lumOff val="15000"/>
                  </a:schemeClr>
                </a:solidFill>
              </a:rPr>
              <a:t>Stage 1 of IDS: Anomaly Detector</a:t>
            </a:r>
            <a:endParaRPr lang="en-US">
              <a:solidFill>
                <a:schemeClr val="bg1">
                  <a:lumMod val="85000"/>
                  <a:lumOff val="15000"/>
                </a:schemeClr>
              </a:solidFill>
            </a:endParaRPr>
          </a:p>
          <a:p>
            <a:pPr>
              <a:lnSpc>
                <a:spcPct val="100000"/>
              </a:lnSpc>
              <a:buFont typeface="Arial" panose="020B0604020202020204" pitchFamily="34" charset="0"/>
              <a:buChar char="•"/>
            </a:pPr>
            <a:r>
              <a:rPr lang="en-US" sz="1600">
                <a:solidFill>
                  <a:schemeClr val="bg1">
                    <a:lumMod val="85000"/>
                    <a:lumOff val="15000"/>
                  </a:schemeClr>
                </a:solidFill>
              </a:rPr>
              <a:t>Focuses on detecting any traffic that deviates from normal behavior to ensure no attacks are missed.</a:t>
            </a:r>
          </a:p>
          <a:p>
            <a:pPr>
              <a:lnSpc>
                <a:spcPct val="100000"/>
              </a:lnSpc>
            </a:pPr>
            <a:r>
              <a:rPr lang="en-US" sz="1600" b="1">
                <a:solidFill>
                  <a:schemeClr val="bg1">
                    <a:lumMod val="85000"/>
                    <a:lumOff val="15000"/>
                  </a:schemeClr>
                </a:solidFill>
              </a:rPr>
              <a:t>A Benign Threshold </a:t>
            </a:r>
            <a:r>
              <a:rPr lang="en-US" sz="1600">
                <a:solidFill>
                  <a:schemeClr val="bg1">
                    <a:lumMod val="85000"/>
                    <a:lumOff val="15000"/>
                  </a:schemeClr>
                </a:solidFill>
              </a:rPr>
              <a:t>is selected that ensures:</a:t>
            </a:r>
          </a:p>
          <a:p>
            <a:pPr marL="742950" lvl="1" indent="-285750">
              <a:lnSpc>
                <a:spcPct val="100000"/>
              </a:lnSpc>
              <a:buFont typeface="Arial" panose="020B0604020202020204" pitchFamily="34" charset="0"/>
              <a:buChar char="•"/>
            </a:pPr>
            <a:r>
              <a:rPr lang="en-US" sz="1600">
                <a:solidFill>
                  <a:schemeClr val="bg1">
                    <a:lumMod val="85000"/>
                    <a:lumOff val="15000"/>
                  </a:schemeClr>
                </a:solidFill>
              </a:rPr>
              <a:t>Most attacks are detected.</a:t>
            </a:r>
          </a:p>
          <a:p>
            <a:pPr marL="742950" lvl="1" indent="-285750">
              <a:lnSpc>
                <a:spcPct val="100000"/>
              </a:lnSpc>
            </a:pPr>
            <a:r>
              <a:rPr lang="en-US" sz="1600">
                <a:solidFill>
                  <a:schemeClr val="bg1">
                    <a:lumMod val="85000"/>
                    <a:lumOff val="15000"/>
                  </a:schemeClr>
                </a:solidFill>
              </a:rPr>
              <a:t>Balance between </a:t>
            </a:r>
            <a:r>
              <a:rPr lang="en-US" sz="1600" b="1">
                <a:solidFill>
                  <a:schemeClr val="bg1">
                    <a:lumMod val="85000"/>
                    <a:lumOff val="15000"/>
                  </a:schemeClr>
                </a:solidFill>
              </a:rPr>
              <a:t>high detection rates </a:t>
            </a:r>
            <a:r>
              <a:rPr lang="en-US" sz="1600">
                <a:solidFill>
                  <a:schemeClr val="bg1">
                    <a:lumMod val="85000"/>
                    <a:lumOff val="15000"/>
                  </a:schemeClr>
                </a:solidFill>
              </a:rPr>
              <a:t>and manageable </a:t>
            </a:r>
            <a:r>
              <a:rPr lang="en-US" sz="1600" b="1">
                <a:solidFill>
                  <a:schemeClr val="bg1">
                    <a:lumMod val="85000"/>
                    <a:lumOff val="15000"/>
                  </a:schemeClr>
                </a:solidFill>
              </a:rPr>
              <a:t>false alarms </a:t>
            </a:r>
            <a:r>
              <a:rPr lang="en-US" sz="1600">
                <a:solidFill>
                  <a:schemeClr val="bg1">
                    <a:lumMod val="85000"/>
                    <a:lumOff val="15000"/>
                  </a:schemeClr>
                </a:solidFill>
              </a:rPr>
              <a:t>for better security.</a:t>
            </a:r>
          </a:p>
        </p:txBody>
      </p:sp>
      <p:pic>
        <p:nvPicPr>
          <p:cNvPr id="1026" name="Picture 2">
            <a:extLst>
              <a:ext uri="{FF2B5EF4-FFF2-40B4-BE49-F238E27FC236}">
                <a16:creationId xmlns:a16="http://schemas.microsoft.com/office/drawing/2014/main" id="{15010959-760F-15B4-C7B9-DE39BEA22963}"/>
              </a:ext>
            </a:extLst>
          </p:cNvPr>
          <p:cNvPicPr>
            <a:picLocks noChangeAspect="1" noChangeArrowheads="1"/>
          </p:cNvPicPr>
          <p:nvPr/>
        </p:nvPicPr>
        <p:blipFill>
          <a:blip r:embed="rId3"/>
          <a:srcRect/>
          <a:stretch/>
        </p:blipFill>
        <p:spPr bwMode="auto">
          <a:xfrm>
            <a:off x="8863846" y="2253899"/>
            <a:ext cx="2860671" cy="1907114"/>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oup 36">
            <a:extLst>
              <a:ext uri="{FF2B5EF4-FFF2-40B4-BE49-F238E27FC236}">
                <a16:creationId xmlns:a16="http://schemas.microsoft.com/office/drawing/2014/main" id="{2E83C595-5180-15B9-62D5-BD972C9E4916}"/>
              </a:ext>
            </a:extLst>
          </p:cNvPr>
          <p:cNvGrpSpPr/>
          <p:nvPr/>
        </p:nvGrpSpPr>
        <p:grpSpPr>
          <a:xfrm>
            <a:off x="1828799" y="4691745"/>
            <a:ext cx="8236783" cy="1949964"/>
            <a:chOff x="2057399" y="4789717"/>
            <a:chExt cx="8236783" cy="1949964"/>
          </a:xfrm>
        </p:grpSpPr>
        <p:sp>
          <p:nvSpPr>
            <p:cNvPr id="3" name="Oval 2">
              <a:extLst>
                <a:ext uri="{FF2B5EF4-FFF2-40B4-BE49-F238E27FC236}">
                  <a16:creationId xmlns:a16="http://schemas.microsoft.com/office/drawing/2014/main" id="{0DA671C6-F8FB-6745-37CF-4E522A06B78F}"/>
                </a:ext>
              </a:extLst>
            </p:cNvPr>
            <p:cNvSpPr/>
            <p:nvPr/>
          </p:nvSpPr>
          <p:spPr>
            <a:xfrm>
              <a:off x="2318657" y="5112624"/>
              <a:ext cx="1132114" cy="11321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Network diagram with solid fill">
              <a:extLst>
                <a:ext uri="{FF2B5EF4-FFF2-40B4-BE49-F238E27FC236}">
                  <a16:creationId xmlns:a16="http://schemas.microsoft.com/office/drawing/2014/main" id="{838DB7D8-DEC9-E711-13C2-8E185B8BE8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27514" y="5221481"/>
              <a:ext cx="914400" cy="914400"/>
            </a:xfrm>
            <a:prstGeom prst="rect">
              <a:avLst/>
            </a:prstGeom>
          </p:spPr>
        </p:pic>
        <p:sp>
          <p:nvSpPr>
            <p:cNvPr id="8" name="TextBox 7">
              <a:extLst>
                <a:ext uri="{FF2B5EF4-FFF2-40B4-BE49-F238E27FC236}">
                  <a16:creationId xmlns:a16="http://schemas.microsoft.com/office/drawing/2014/main" id="{A63C1E5A-AB21-2773-72AB-4ABB765059E8}"/>
                </a:ext>
              </a:extLst>
            </p:cNvPr>
            <p:cNvSpPr txBox="1"/>
            <p:nvPr/>
          </p:nvSpPr>
          <p:spPr>
            <a:xfrm>
              <a:off x="2057399" y="6266513"/>
              <a:ext cx="1596912" cy="369332"/>
            </a:xfrm>
            <a:prstGeom prst="rect">
              <a:avLst/>
            </a:prstGeom>
            <a:noFill/>
          </p:spPr>
          <p:txBody>
            <a:bodyPr wrap="none" rtlCol="0">
              <a:spAutoFit/>
            </a:bodyPr>
            <a:lstStyle/>
            <a:p>
              <a:r>
                <a:rPr lang="en-US">
                  <a:solidFill>
                    <a:schemeClr val="accent1"/>
                  </a:solidFill>
                </a:rPr>
                <a:t>Network Data</a:t>
              </a:r>
            </a:p>
          </p:txBody>
        </p:sp>
        <p:sp>
          <p:nvSpPr>
            <p:cNvPr id="14" name="Rounded Rectangle 13">
              <a:extLst>
                <a:ext uri="{FF2B5EF4-FFF2-40B4-BE49-F238E27FC236}">
                  <a16:creationId xmlns:a16="http://schemas.microsoft.com/office/drawing/2014/main" id="{CF072CF4-C206-617F-5FE6-0B74A23C5BCF}"/>
                </a:ext>
              </a:extLst>
            </p:cNvPr>
            <p:cNvSpPr/>
            <p:nvPr/>
          </p:nvSpPr>
          <p:spPr>
            <a:xfrm>
              <a:off x="8435988" y="4789717"/>
              <a:ext cx="1858194" cy="676338"/>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Label it as Benign</a:t>
              </a:r>
            </a:p>
          </p:txBody>
        </p:sp>
        <p:sp>
          <p:nvSpPr>
            <p:cNvPr id="19" name="Rounded Rectangle 18">
              <a:extLst>
                <a:ext uri="{FF2B5EF4-FFF2-40B4-BE49-F238E27FC236}">
                  <a16:creationId xmlns:a16="http://schemas.microsoft.com/office/drawing/2014/main" id="{BA82D392-751E-F5D6-E918-792D01A0220A}"/>
                </a:ext>
              </a:extLst>
            </p:cNvPr>
            <p:cNvSpPr/>
            <p:nvPr/>
          </p:nvSpPr>
          <p:spPr>
            <a:xfrm>
              <a:off x="8418629" y="6063343"/>
              <a:ext cx="1858194" cy="67633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Send to Stage 2 </a:t>
              </a:r>
            </a:p>
          </p:txBody>
        </p:sp>
        <p:cxnSp>
          <p:nvCxnSpPr>
            <p:cNvPr id="29" name="Elbow Connector 28">
              <a:extLst>
                <a:ext uri="{FF2B5EF4-FFF2-40B4-BE49-F238E27FC236}">
                  <a16:creationId xmlns:a16="http://schemas.microsoft.com/office/drawing/2014/main" id="{829C9947-D605-79E0-40EC-76ABFE23F983}"/>
                </a:ext>
              </a:extLst>
            </p:cNvPr>
            <p:cNvCxnSpPr>
              <a:cxnSpLocks/>
            </p:cNvCxnSpPr>
            <p:nvPr/>
          </p:nvCxnSpPr>
          <p:spPr>
            <a:xfrm rot="5400000" flipH="1" flipV="1">
              <a:off x="7104866" y="4056896"/>
              <a:ext cx="267354" cy="23948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Data 19">
              <a:extLst>
                <a:ext uri="{FF2B5EF4-FFF2-40B4-BE49-F238E27FC236}">
                  <a16:creationId xmlns:a16="http://schemas.microsoft.com/office/drawing/2014/main" id="{243589E2-1E34-AD16-CA64-1D7270BE1CB1}"/>
                </a:ext>
              </a:extLst>
            </p:cNvPr>
            <p:cNvSpPr/>
            <p:nvPr/>
          </p:nvSpPr>
          <p:spPr>
            <a:xfrm>
              <a:off x="4990626" y="5221481"/>
              <a:ext cx="2013857" cy="1080938"/>
            </a:xfrm>
            <a:prstGeom prst="flowChartInputOutput">
              <a:avLst/>
            </a:prstGeom>
            <a:solidFill>
              <a:schemeClr val="bg1">
                <a:lumMod val="85000"/>
                <a:lumOff val="1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95D119A-3C5E-1D3A-4A29-42EF585EC7D8}"/>
                </a:ext>
              </a:extLst>
            </p:cNvPr>
            <p:cNvSpPr txBox="1"/>
            <p:nvPr/>
          </p:nvSpPr>
          <p:spPr>
            <a:xfrm>
              <a:off x="5426683" y="5438784"/>
              <a:ext cx="1228830" cy="646331"/>
            </a:xfrm>
            <a:prstGeom prst="rect">
              <a:avLst/>
            </a:prstGeom>
            <a:noFill/>
          </p:spPr>
          <p:txBody>
            <a:bodyPr wrap="square" rtlCol="0">
              <a:spAutoFit/>
            </a:bodyPr>
            <a:lstStyle/>
            <a:p>
              <a:pPr algn="ctr"/>
              <a:r>
                <a:rPr lang="en-US">
                  <a:solidFill>
                    <a:schemeClr val="accent1"/>
                  </a:solidFill>
                </a:rPr>
                <a:t>Anomaly Detector</a:t>
              </a:r>
            </a:p>
          </p:txBody>
        </p:sp>
        <p:sp>
          <p:nvSpPr>
            <p:cNvPr id="24" name="Down Arrow 23">
              <a:extLst>
                <a:ext uri="{FF2B5EF4-FFF2-40B4-BE49-F238E27FC236}">
                  <a16:creationId xmlns:a16="http://schemas.microsoft.com/office/drawing/2014/main" id="{D7F7F1DB-069F-9D6C-FF08-B49EF534A934}"/>
                </a:ext>
              </a:extLst>
            </p:cNvPr>
            <p:cNvSpPr/>
            <p:nvPr/>
          </p:nvSpPr>
          <p:spPr>
            <a:xfrm rot="16200000">
              <a:off x="3848143" y="5274990"/>
              <a:ext cx="917689" cy="10580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Elbow Connector 30">
              <a:extLst>
                <a:ext uri="{FF2B5EF4-FFF2-40B4-BE49-F238E27FC236}">
                  <a16:creationId xmlns:a16="http://schemas.microsoft.com/office/drawing/2014/main" id="{A69FCA64-F070-D4FB-2D0E-EEF0C85C80E4}"/>
                </a:ext>
              </a:extLst>
            </p:cNvPr>
            <p:cNvCxnSpPr>
              <a:cxnSpLocks/>
            </p:cNvCxnSpPr>
            <p:nvPr/>
          </p:nvCxnSpPr>
          <p:spPr>
            <a:xfrm rot="16200000" flipH="1">
              <a:off x="7133780" y="5169757"/>
              <a:ext cx="122438" cy="23948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13789E6-E868-06E2-6B7A-1A2BD9FB312B}"/>
                </a:ext>
              </a:extLst>
            </p:cNvPr>
            <p:cNvSpPr txBox="1"/>
            <p:nvPr/>
          </p:nvSpPr>
          <p:spPr>
            <a:xfrm>
              <a:off x="6340470" y="4825260"/>
              <a:ext cx="1709058" cy="307777"/>
            </a:xfrm>
            <a:prstGeom prst="rect">
              <a:avLst/>
            </a:prstGeom>
            <a:noFill/>
          </p:spPr>
          <p:txBody>
            <a:bodyPr wrap="none" rtlCol="0">
              <a:spAutoFit/>
            </a:bodyPr>
            <a:lstStyle/>
            <a:p>
              <a:r>
                <a:rPr lang="en-US" sz="1400">
                  <a:solidFill>
                    <a:schemeClr val="bg1"/>
                  </a:solidFill>
                </a:rPr>
                <a:t>&lt; Benign Threshold</a:t>
              </a:r>
            </a:p>
          </p:txBody>
        </p:sp>
        <p:sp>
          <p:nvSpPr>
            <p:cNvPr id="36" name="TextBox 35">
              <a:extLst>
                <a:ext uri="{FF2B5EF4-FFF2-40B4-BE49-F238E27FC236}">
                  <a16:creationId xmlns:a16="http://schemas.microsoft.com/office/drawing/2014/main" id="{5832DC66-5D09-0C1C-4A5B-BF9F129AF4F7}"/>
                </a:ext>
              </a:extLst>
            </p:cNvPr>
            <p:cNvSpPr txBox="1"/>
            <p:nvPr/>
          </p:nvSpPr>
          <p:spPr>
            <a:xfrm>
              <a:off x="6384014" y="6425920"/>
              <a:ext cx="1709058" cy="307777"/>
            </a:xfrm>
            <a:prstGeom prst="rect">
              <a:avLst/>
            </a:prstGeom>
            <a:noFill/>
          </p:spPr>
          <p:txBody>
            <a:bodyPr wrap="none" rtlCol="0">
              <a:spAutoFit/>
            </a:bodyPr>
            <a:lstStyle/>
            <a:p>
              <a:r>
                <a:rPr lang="en-US" sz="1400">
                  <a:solidFill>
                    <a:schemeClr val="bg1"/>
                  </a:solidFill>
                </a:rPr>
                <a:t>&gt; Benign Threshold</a:t>
              </a:r>
            </a:p>
          </p:txBody>
        </p:sp>
      </p:grpSp>
    </p:spTree>
    <p:extLst>
      <p:ext uri="{BB962C8B-B14F-4D97-AF65-F5344CB8AC3E}">
        <p14:creationId xmlns:p14="http://schemas.microsoft.com/office/powerpoint/2010/main" val="2262972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19E67-768B-B80C-9F46-08CA46F84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755BA-A329-A311-E3C4-C9A3AD204546}"/>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6" name="Content Placeholder 3">
            <a:extLst>
              <a:ext uri="{FF2B5EF4-FFF2-40B4-BE49-F238E27FC236}">
                <a16:creationId xmlns:a16="http://schemas.microsoft.com/office/drawing/2014/main" id="{2B382005-888A-728F-1A03-F46AAD8CEACB}"/>
              </a:ext>
            </a:extLst>
          </p:cNvPr>
          <p:cNvSpPr>
            <a:spLocks noGrp="1"/>
          </p:cNvSpPr>
          <p:nvPr>
            <p:ph idx="1"/>
          </p:nvPr>
        </p:nvSpPr>
        <p:spPr>
          <a:xfrm>
            <a:off x="353751" y="2286366"/>
            <a:ext cx="6667678" cy="3992388"/>
          </a:xfrm>
        </p:spPr>
        <p:txBody>
          <a:bodyPr>
            <a:noAutofit/>
          </a:bodyPr>
          <a:lstStyle/>
          <a:p>
            <a:pPr marL="0" indent="0">
              <a:lnSpc>
                <a:spcPct val="150000"/>
              </a:lnSpc>
              <a:buNone/>
            </a:pPr>
            <a:r>
              <a:rPr lang="en-US" b="1">
                <a:solidFill>
                  <a:schemeClr val="bg1">
                    <a:lumMod val="85000"/>
                    <a:lumOff val="15000"/>
                  </a:schemeClr>
                </a:solidFill>
              </a:rPr>
              <a:t>Stage 1 of IDS: Anomaly Detector</a:t>
            </a:r>
            <a:endParaRPr lang="en-US">
              <a:solidFill>
                <a:schemeClr val="bg1">
                  <a:lumMod val="85000"/>
                  <a:lumOff val="15000"/>
                </a:schemeClr>
              </a:solidFill>
            </a:endParaRPr>
          </a:p>
          <a:p>
            <a:pPr>
              <a:lnSpc>
                <a:spcPct val="150000"/>
              </a:lnSpc>
              <a:buFont typeface="Arial" panose="020B0604020202020204" pitchFamily="34" charset="0"/>
              <a:buChar char="•"/>
            </a:pPr>
            <a:r>
              <a:rPr lang="en-US" sz="1600">
                <a:solidFill>
                  <a:schemeClr val="bg1">
                    <a:lumMod val="85000"/>
                    <a:lumOff val="15000"/>
                  </a:schemeClr>
                </a:solidFill>
              </a:rPr>
              <a:t>Models for each datasets are chosen considering following metrics:</a:t>
            </a:r>
          </a:p>
          <a:p>
            <a:pPr marL="742950" lvl="1" indent="-285750">
              <a:lnSpc>
                <a:spcPct val="100000"/>
              </a:lnSpc>
            </a:pPr>
            <a:r>
              <a:rPr lang="en-US" sz="1600" b="1">
                <a:solidFill>
                  <a:schemeClr val="bg1">
                    <a:lumMod val="85000"/>
                    <a:lumOff val="15000"/>
                  </a:schemeClr>
                </a:solidFill>
              </a:rPr>
              <a:t>Recall - </a:t>
            </a:r>
            <a:r>
              <a:rPr lang="en-US" sz="1600">
                <a:solidFill>
                  <a:schemeClr val="bg1">
                    <a:lumMod val="85000"/>
                    <a:lumOff val="15000"/>
                  </a:schemeClr>
                </a:solidFill>
              </a:rPr>
              <a:t>How well they detect attacks</a:t>
            </a:r>
          </a:p>
          <a:p>
            <a:pPr marL="742950" lvl="1" indent="-285750">
              <a:lnSpc>
                <a:spcPct val="100000"/>
              </a:lnSpc>
            </a:pPr>
            <a:r>
              <a:rPr lang="en-US" sz="1600" b="1">
                <a:solidFill>
                  <a:schemeClr val="bg1">
                    <a:lumMod val="85000"/>
                    <a:lumOff val="15000"/>
                  </a:schemeClr>
                </a:solidFill>
              </a:rPr>
              <a:t>Precision - </a:t>
            </a:r>
            <a:r>
              <a:rPr lang="en-US" sz="1600">
                <a:solidFill>
                  <a:schemeClr val="bg1">
                    <a:lumMod val="85000"/>
                    <a:lumOff val="15000"/>
                  </a:schemeClr>
                </a:solidFill>
              </a:rPr>
              <a:t>Accuracy of predictions</a:t>
            </a:r>
          </a:p>
          <a:p>
            <a:pPr marL="742950" lvl="1" indent="-285750">
              <a:lnSpc>
                <a:spcPct val="100000"/>
              </a:lnSpc>
            </a:pPr>
            <a:r>
              <a:rPr lang="en-US" sz="1600" b="1">
                <a:solidFill>
                  <a:schemeClr val="bg1">
                    <a:lumMod val="85000"/>
                    <a:lumOff val="15000"/>
                  </a:schemeClr>
                </a:solidFill>
              </a:rPr>
              <a:t>False Positive Rate - F</a:t>
            </a:r>
            <a:r>
              <a:rPr lang="en-US" sz="1600">
                <a:solidFill>
                  <a:schemeClr val="bg1">
                    <a:lumMod val="85000"/>
                    <a:lumOff val="15000"/>
                  </a:schemeClr>
                </a:solidFill>
              </a:rPr>
              <a:t>alse alarms</a:t>
            </a:r>
          </a:p>
          <a:p>
            <a:pPr marL="742950" lvl="1" indent="-285750">
              <a:lnSpc>
                <a:spcPct val="100000"/>
              </a:lnSpc>
            </a:pPr>
            <a:r>
              <a:rPr lang="en-US" sz="1600" b="1">
                <a:solidFill>
                  <a:schemeClr val="bg1">
                    <a:lumMod val="85000"/>
                    <a:lumOff val="15000"/>
                  </a:schemeClr>
                </a:solidFill>
              </a:rPr>
              <a:t>F1 Score </a:t>
            </a:r>
            <a:r>
              <a:rPr lang="en-US" sz="1600">
                <a:solidFill>
                  <a:schemeClr val="bg1">
                    <a:lumMod val="85000"/>
                    <a:lumOff val="15000"/>
                  </a:schemeClr>
                </a:solidFill>
              </a:rPr>
              <a:t>- Overall performance, combining precision and recall.</a:t>
            </a:r>
          </a:p>
          <a:p>
            <a:endParaRPr lang="en-US" sz="1600">
              <a:solidFill>
                <a:schemeClr val="bg1">
                  <a:lumMod val="85000"/>
                  <a:lumOff val="15000"/>
                </a:schemeClr>
              </a:solidFill>
            </a:endParaRPr>
          </a:p>
          <a:p>
            <a:r>
              <a:rPr lang="en-US" sz="1600">
                <a:solidFill>
                  <a:schemeClr val="bg1">
                    <a:lumMod val="85000"/>
                    <a:lumOff val="15000"/>
                  </a:schemeClr>
                </a:solidFill>
              </a:rPr>
              <a:t>For e.g., For the CICIDS-2017 and CICIDS-2018 datasets, </a:t>
            </a:r>
            <a:r>
              <a:rPr lang="en-US" sz="1600" b="1">
                <a:solidFill>
                  <a:schemeClr val="bg1">
                    <a:lumMod val="85000"/>
                    <a:lumOff val="15000"/>
                  </a:schemeClr>
                </a:solidFill>
              </a:rPr>
              <a:t>OC-SVM</a:t>
            </a:r>
            <a:r>
              <a:rPr lang="en-US" sz="1600">
                <a:solidFill>
                  <a:schemeClr val="bg1">
                    <a:lumMod val="85000"/>
                    <a:lumOff val="15000"/>
                  </a:schemeClr>
                </a:solidFill>
              </a:rPr>
              <a:t> gave the best balance of recall, precision, and low false alarms, making it the top choice for anomaly detection.</a:t>
            </a:r>
          </a:p>
        </p:txBody>
      </p:sp>
      <p:pic>
        <p:nvPicPr>
          <p:cNvPr id="4" name="Picture 3" descr="A table of numbers with text&#10;&#10;Description automatically generated with medium confidence">
            <a:extLst>
              <a:ext uri="{FF2B5EF4-FFF2-40B4-BE49-F238E27FC236}">
                <a16:creationId xmlns:a16="http://schemas.microsoft.com/office/drawing/2014/main" id="{14E86B30-83DF-AF13-4E71-320AC616D4E9}"/>
              </a:ext>
            </a:extLst>
          </p:cNvPr>
          <p:cNvPicPr>
            <a:picLocks noChangeAspect="1"/>
          </p:cNvPicPr>
          <p:nvPr/>
        </p:nvPicPr>
        <p:blipFill>
          <a:blip r:embed="rId3"/>
          <a:srcRect t="21386"/>
          <a:stretch/>
        </p:blipFill>
        <p:spPr>
          <a:xfrm>
            <a:off x="7021429" y="3360420"/>
            <a:ext cx="4943828" cy="1844280"/>
          </a:xfrm>
          <a:prstGeom prst="rect">
            <a:avLst/>
          </a:prstGeom>
          <a:ln>
            <a:solidFill>
              <a:schemeClr val="bg1"/>
            </a:solid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41ED1223-BEA4-1EE8-53B3-633A33591C38}"/>
              </a:ext>
            </a:extLst>
          </p:cNvPr>
          <p:cNvSpPr txBox="1"/>
          <p:nvPr/>
        </p:nvSpPr>
        <p:spPr>
          <a:xfrm>
            <a:off x="7534088" y="3019401"/>
            <a:ext cx="3918509" cy="307777"/>
          </a:xfrm>
          <a:prstGeom prst="rect">
            <a:avLst/>
          </a:prstGeom>
          <a:noFill/>
        </p:spPr>
        <p:txBody>
          <a:bodyPr wrap="none" rtlCol="0">
            <a:spAutoFit/>
          </a:bodyPr>
          <a:lstStyle/>
          <a:p>
            <a:r>
              <a:rPr lang="en-US" sz="1400" b="1">
                <a:solidFill>
                  <a:schemeClr val="bg1">
                    <a:lumMod val="65000"/>
                    <a:lumOff val="35000"/>
                  </a:schemeClr>
                </a:solidFill>
              </a:rPr>
              <a:t>Performance Overview for different models</a:t>
            </a:r>
          </a:p>
        </p:txBody>
      </p:sp>
    </p:spTree>
    <p:extLst>
      <p:ext uri="{BB962C8B-B14F-4D97-AF65-F5344CB8AC3E}">
        <p14:creationId xmlns:p14="http://schemas.microsoft.com/office/powerpoint/2010/main" val="2243602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20E6-27D4-F854-7432-E9A8113CB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B7D6C-9C21-61A2-FAFF-6AF1415926C4}"/>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6" name="Content Placeholder 3">
            <a:extLst>
              <a:ext uri="{FF2B5EF4-FFF2-40B4-BE49-F238E27FC236}">
                <a16:creationId xmlns:a16="http://schemas.microsoft.com/office/drawing/2014/main" id="{4BC99792-1370-C11C-175E-D5A3E1C15B8E}"/>
              </a:ext>
            </a:extLst>
          </p:cNvPr>
          <p:cNvSpPr>
            <a:spLocks noGrp="1"/>
          </p:cNvSpPr>
          <p:nvPr>
            <p:ph idx="1"/>
          </p:nvPr>
        </p:nvSpPr>
        <p:spPr>
          <a:xfrm>
            <a:off x="353752" y="2275670"/>
            <a:ext cx="6667678" cy="4215565"/>
          </a:xfrm>
        </p:spPr>
        <p:txBody>
          <a:bodyPr>
            <a:noAutofit/>
          </a:bodyPr>
          <a:lstStyle/>
          <a:p>
            <a:pPr marL="0" indent="0">
              <a:lnSpc>
                <a:spcPct val="150000"/>
              </a:lnSpc>
              <a:buNone/>
            </a:pPr>
            <a:r>
              <a:rPr lang="en-US" b="1">
                <a:solidFill>
                  <a:schemeClr val="bg1">
                    <a:lumMod val="85000"/>
                    <a:lumOff val="15000"/>
                  </a:schemeClr>
                </a:solidFill>
              </a:rPr>
              <a:t>Stage 1 of IDS: Anomaly Detector</a:t>
            </a:r>
          </a:p>
          <a:p>
            <a:pPr>
              <a:lnSpc>
                <a:spcPct val="150000"/>
              </a:lnSpc>
            </a:pPr>
            <a:endParaRPr lang="en-US" sz="1600" b="1">
              <a:solidFill>
                <a:schemeClr val="bg1">
                  <a:lumMod val="85000"/>
                  <a:lumOff val="15000"/>
                </a:schemeClr>
              </a:solidFill>
            </a:endParaRPr>
          </a:p>
          <a:p>
            <a:pPr marL="0" indent="0">
              <a:lnSpc>
                <a:spcPct val="150000"/>
              </a:lnSpc>
              <a:buNone/>
            </a:pPr>
            <a:endParaRPr lang="en-US" b="1">
              <a:solidFill>
                <a:schemeClr val="bg1">
                  <a:lumMod val="85000"/>
                  <a:lumOff val="15000"/>
                </a:schemeClr>
              </a:solidFill>
            </a:endParaRPr>
          </a:p>
          <a:p>
            <a:pPr marL="0" indent="0">
              <a:lnSpc>
                <a:spcPct val="150000"/>
              </a:lnSpc>
              <a:buNone/>
            </a:pPr>
            <a:endParaRPr lang="en-US">
              <a:solidFill>
                <a:schemeClr val="bg1">
                  <a:lumMod val="85000"/>
                  <a:lumOff val="15000"/>
                </a:schemeClr>
              </a:solidFill>
            </a:endParaRPr>
          </a:p>
        </p:txBody>
      </p:sp>
      <p:pic>
        <p:nvPicPr>
          <p:cNvPr id="3" name="Content Placeholder 7" descr="A screenshot of a cellphone&#10;&#10;Description automatically generated">
            <a:extLst>
              <a:ext uri="{FF2B5EF4-FFF2-40B4-BE49-F238E27FC236}">
                <a16:creationId xmlns:a16="http://schemas.microsoft.com/office/drawing/2014/main" id="{48DAD4F4-FA1D-15B5-50E9-F69391F968EB}"/>
              </a:ext>
            </a:extLst>
          </p:cNvPr>
          <p:cNvPicPr>
            <a:picLocks noChangeAspect="1"/>
          </p:cNvPicPr>
          <p:nvPr/>
        </p:nvPicPr>
        <p:blipFill>
          <a:blip r:embed="rId3"/>
          <a:stretch>
            <a:fillRect/>
          </a:stretch>
        </p:blipFill>
        <p:spPr>
          <a:xfrm>
            <a:off x="906464" y="3068515"/>
            <a:ext cx="3354632" cy="3502375"/>
          </a:xfrm>
          <a:prstGeom prst="rect">
            <a:avLst/>
          </a:prstGeom>
        </p:spPr>
      </p:pic>
      <p:sp>
        <p:nvSpPr>
          <p:cNvPr id="5" name="TextBox 4">
            <a:extLst>
              <a:ext uri="{FF2B5EF4-FFF2-40B4-BE49-F238E27FC236}">
                <a16:creationId xmlns:a16="http://schemas.microsoft.com/office/drawing/2014/main" id="{21DFEA50-6414-88AC-38C2-A842D6F4FCB5}"/>
              </a:ext>
            </a:extLst>
          </p:cNvPr>
          <p:cNvSpPr txBox="1"/>
          <p:nvPr/>
        </p:nvSpPr>
        <p:spPr>
          <a:xfrm>
            <a:off x="4683179" y="4297727"/>
            <a:ext cx="7045234" cy="1934889"/>
          </a:xfrm>
          <a:prstGeom prst="rect">
            <a:avLst/>
          </a:prstGeom>
          <a:noFill/>
        </p:spPr>
        <p:txBody>
          <a:bodyPr wrap="square" rtlCol="0">
            <a:spAutoFit/>
          </a:bodyPr>
          <a:lstStyle/>
          <a:p>
            <a:pPr defTabSz="914400">
              <a:lnSpc>
                <a:spcPct val="90000"/>
              </a:lnSpc>
              <a:spcBef>
                <a:spcPts val="1000"/>
              </a:spcBef>
            </a:pPr>
            <a:r>
              <a:rPr lang="en-US" sz="1600">
                <a:solidFill>
                  <a:schemeClr val="bg1"/>
                </a:solidFill>
              </a:rPr>
              <a:t>The confusion matrix using the </a:t>
            </a:r>
            <a:r>
              <a:rPr lang="en-US" sz="1600" b="1">
                <a:solidFill>
                  <a:schemeClr val="bg1"/>
                </a:solidFill>
              </a:rPr>
              <a:t>benign threshold </a:t>
            </a:r>
            <a:r>
              <a:rPr lang="en-US" sz="1600">
                <a:solidFill>
                  <a:schemeClr val="bg1"/>
                </a:solidFill>
              </a:rPr>
              <a:t>shows:</a:t>
            </a:r>
            <a:endParaRPr lang="en-US" sz="1600">
              <a:solidFill>
                <a:schemeClr val="bg1">
                  <a:lumMod val="85000"/>
                  <a:lumOff val="15000"/>
                </a:schemeClr>
              </a:solidFill>
            </a:endParaRPr>
          </a:p>
          <a:p>
            <a:pPr marL="685800" lvl="1" indent="-228600" defTabSz="914400">
              <a:lnSpc>
                <a:spcPct val="90000"/>
              </a:lnSpc>
              <a:spcBef>
                <a:spcPts val="1000"/>
              </a:spcBef>
              <a:buFont typeface="Arial" panose="020B0604020202020204" pitchFamily="34" charset="0"/>
              <a:buChar char="•"/>
            </a:pPr>
            <a:r>
              <a:rPr lang="en-US" sz="1600">
                <a:solidFill>
                  <a:schemeClr val="bg1"/>
                </a:solidFill>
              </a:rPr>
              <a:t>Most of the fraud traffic (attacks) was </a:t>
            </a:r>
            <a:r>
              <a:rPr lang="en-US" sz="1600" b="1">
                <a:solidFill>
                  <a:schemeClr val="bg1"/>
                </a:solidFill>
              </a:rPr>
              <a:t>correctly identified.</a:t>
            </a:r>
          </a:p>
          <a:p>
            <a:pPr marL="685800" lvl="1" indent="-228600" defTabSz="914400">
              <a:lnSpc>
                <a:spcPct val="90000"/>
              </a:lnSpc>
              <a:spcBef>
                <a:spcPts val="1000"/>
              </a:spcBef>
              <a:buFont typeface="Arial" panose="020B0604020202020204" pitchFamily="34" charset="0"/>
              <a:buChar char="•"/>
            </a:pPr>
            <a:r>
              <a:rPr lang="en-US" sz="1600">
                <a:solidFill>
                  <a:schemeClr val="bg1"/>
                </a:solidFill>
              </a:rPr>
              <a:t>However, about one-third of the benign data was </a:t>
            </a:r>
            <a:r>
              <a:rPr lang="en-US" sz="1600" b="1">
                <a:solidFill>
                  <a:schemeClr val="bg1"/>
                </a:solidFill>
              </a:rPr>
              <a:t>wrongly flagged as an attack.</a:t>
            </a:r>
          </a:p>
          <a:p>
            <a:pPr marL="228600" indent="-228600" defTabSz="914400">
              <a:lnSpc>
                <a:spcPct val="90000"/>
              </a:lnSpc>
              <a:spcBef>
                <a:spcPts val="1000"/>
              </a:spcBef>
              <a:buFont typeface="Arial" panose="020B0604020202020204" pitchFamily="34" charset="0"/>
              <a:buChar char="•"/>
            </a:pPr>
            <a:endParaRPr lang="en-US" sz="1600">
              <a:solidFill>
                <a:schemeClr val="bg1"/>
              </a:solidFill>
            </a:endParaRPr>
          </a:p>
          <a:p>
            <a:pPr defTabSz="914400">
              <a:lnSpc>
                <a:spcPct val="90000"/>
              </a:lnSpc>
              <a:spcBef>
                <a:spcPts val="1000"/>
              </a:spcBef>
            </a:pPr>
            <a:r>
              <a:rPr lang="en-US" sz="1600" b="1">
                <a:solidFill>
                  <a:schemeClr val="bg1"/>
                </a:solidFill>
              </a:rPr>
              <a:t>We will observe how this issue is addressed in the subsequent stages.</a:t>
            </a:r>
          </a:p>
        </p:txBody>
      </p:sp>
      <p:sp>
        <p:nvSpPr>
          <p:cNvPr id="10" name="Rectangle: Rounded Corners 9">
            <a:extLst>
              <a:ext uri="{FF2B5EF4-FFF2-40B4-BE49-F238E27FC236}">
                <a16:creationId xmlns:a16="http://schemas.microsoft.com/office/drawing/2014/main" id="{E89555DD-9E68-948C-BAC2-1940D426A942}"/>
              </a:ext>
            </a:extLst>
          </p:cNvPr>
          <p:cNvSpPr/>
          <p:nvPr/>
        </p:nvSpPr>
        <p:spPr>
          <a:xfrm>
            <a:off x="4664129" y="2886171"/>
            <a:ext cx="7306492" cy="121760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7BFBB330-0BB6-25B1-385A-66899AC02550}"/>
              </a:ext>
            </a:extLst>
          </p:cNvPr>
          <p:cNvSpPr txBox="1"/>
          <p:nvPr/>
        </p:nvSpPr>
        <p:spPr>
          <a:xfrm>
            <a:off x="4683179" y="2962371"/>
            <a:ext cx="7306492" cy="1077218"/>
          </a:xfrm>
          <a:prstGeom prst="rect">
            <a:avLst/>
          </a:prstGeom>
          <a:noFill/>
        </p:spPr>
        <p:txBody>
          <a:bodyPr wrap="square" rtlCol="0">
            <a:spAutoFit/>
          </a:bodyPr>
          <a:lstStyle/>
          <a:p>
            <a:pPr algn="ctr"/>
            <a:r>
              <a:rPr lang="en-US" sz="1600">
                <a:solidFill>
                  <a:schemeClr val="bg1"/>
                </a:solidFill>
              </a:rPr>
              <a:t>The </a:t>
            </a:r>
            <a:r>
              <a:rPr lang="en-US" sz="1600" b="1">
                <a:solidFill>
                  <a:schemeClr val="bg1"/>
                </a:solidFill>
              </a:rPr>
              <a:t>benign threshold</a:t>
            </a:r>
            <a:r>
              <a:rPr lang="en-US" sz="1600">
                <a:solidFill>
                  <a:schemeClr val="bg1"/>
                </a:solidFill>
              </a:rPr>
              <a:t> is selected by evaluating different values and choosing the one that provides the best balance between detecting attacks and minimizing false alarms based on metrics like F1 score and recall for the model selected.</a:t>
            </a:r>
          </a:p>
        </p:txBody>
      </p:sp>
    </p:spTree>
    <p:extLst>
      <p:ext uri="{BB962C8B-B14F-4D97-AF65-F5344CB8AC3E}">
        <p14:creationId xmlns:p14="http://schemas.microsoft.com/office/powerpoint/2010/main" val="2141641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C56B4-0870-1A74-DEC5-5FFF48502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517C3-EC33-7628-D560-8CAA52D2F10A}"/>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4" name="Content Placeholder 3">
            <a:extLst>
              <a:ext uri="{FF2B5EF4-FFF2-40B4-BE49-F238E27FC236}">
                <a16:creationId xmlns:a16="http://schemas.microsoft.com/office/drawing/2014/main" id="{CF0E9612-2392-5204-1F10-B51288B31000}"/>
              </a:ext>
            </a:extLst>
          </p:cNvPr>
          <p:cNvSpPr>
            <a:spLocks noGrp="1"/>
          </p:cNvSpPr>
          <p:nvPr>
            <p:ph idx="1"/>
          </p:nvPr>
        </p:nvSpPr>
        <p:spPr>
          <a:xfrm>
            <a:off x="582351" y="2143493"/>
            <a:ext cx="11348392" cy="3992388"/>
          </a:xfrm>
        </p:spPr>
        <p:txBody>
          <a:bodyPr>
            <a:noAutofit/>
          </a:bodyPr>
          <a:lstStyle/>
          <a:p>
            <a:pPr marL="0" indent="0">
              <a:lnSpc>
                <a:spcPct val="150000"/>
              </a:lnSpc>
              <a:buNone/>
            </a:pPr>
            <a:r>
              <a:rPr lang="en-US" b="1">
                <a:solidFill>
                  <a:schemeClr val="bg1">
                    <a:lumMod val="85000"/>
                    <a:lumOff val="15000"/>
                  </a:schemeClr>
                </a:solidFill>
              </a:rPr>
              <a:t>Stage 2 of IDS: Attack Classifier</a:t>
            </a:r>
            <a:endParaRPr lang="en-US">
              <a:solidFill>
                <a:schemeClr val="bg1">
                  <a:lumMod val="85000"/>
                  <a:lumOff val="15000"/>
                </a:schemeClr>
              </a:solidFill>
            </a:endParaRPr>
          </a:p>
          <a:p>
            <a:pPr>
              <a:lnSpc>
                <a:spcPct val="100000"/>
              </a:lnSpc>
            </a:pPr>
            <a:r>
              <a:rPr lang="en-US" sz="1600">
                <a:solidFill>
                  <a:schemeClr val="bg1">
                    <a:lumMod val="85000"/>
                    <a:lumOff val="15000"/>
                  </a:schemeClr>
                </a:solidFill>
              </a:rPr>
              <a:t>Stage 2 of the Intrusion Detection System (IDS) focuses on identifying the </a:t>
            </a:r>
            <a:r>
              <a:rPr lang="en-US" sz="1600" b="1">
                <a:solidFill>
                  <a:schemeClr val="bg1">
                    <a:lumMod val="85000"/>
                    <a:lumOff val="15000"/>
                  </a:schemeClr>
                </a:solidFill>
              </a:rPr>
              <a:t>type of attack</a:t>
            </a:r>
            <a:r>
              <a:rPr lang="en-US" sz="1600">
                <a:solidFill>
                  <a:schemeClr val="bg1">
                    <a:lumMod val="85000"/>
                    <a:lumOff val="15000"/>
                  </a:schemeClr>
                </a:solidFill>
              </a:rPr>
              <a:t> from the anomalies detected in Stage 1.</a:t>
            </a:r>
          </a:p>
          <a:p>
            <a:pPr>
              <a:lnSpc>
                <a:spcPct val="100000"/>
              </a:lnSpc>
            </a:pPr>
            <a:r>
              <a:rPr lang="en-US" sz="1600">
                <a:solidFill>
                  <a:schemeClr val="bg1">
                    <a:lumMod val="85000"/>
                    <a:lumOff val="15000"/>
                  </a:schemeClr>
                </a:solidFill>
              </a:rPr>
              <a:t>A </a:t>
            </a:r>
            <a:r>
              <a:rPr lang="en-US" sz="1600" b="1">
                <a:solidFill>
                  <a:schemeClr val="bg1">
                    <a:lumMod val="85000"/>
                    <a:lumOff val="15000"/>
                  </a:schemeClr>
                </a:solidFill>
              </a:rPr>
              <a:t>confidence threshold </a:t>
            </a:r>
            <a:r>
              <a:rPr lang="en-US" sz="1600">
                <a:solidFill>
                  <a:schemeClr val="bg1">
                    <a:lumMod val="85000"/>
                    <a:lumOff val="15000"/>
                  </a:schemeClr>
                </a:solidFill>
              </a:rPr>
              <a:t>is set to determine the certainty needed to classify a sample into a specific attack type.</a:t>
            </a:r>
          </a:p>
        </p:txBody>
      </p:sp>
      <p:grpSp>
        <p:nvGrpSpPr>
          <p:cNvPr id="10" name="Group 9">
            <a:extLst>
              <a:ext uri="{FF2B5EF4-FFF2-40B4-BE49-F238E27FC236}">
                <a16:creationId xmlns:a16="http://schemas.microsoft.com/office/drawing/2014/main" id="{2C0CE49A-9DCF-F58A-C72E-951F8F12D201}"/>
              </a:ext>
            </a:extLst>
          </p:cNvPr>
          <p:cNvGrpSpPr/>
          <p:nvPr/>
        </p:nvGrpSpPr>
        <p:grpSpPr>
          <a:xfrm>
            <a:off x="867152" y="4364616"/>
            <a:ext cx="10778790" cy="1949964"/>
            <a:chOff x="366392" y="4715446"/>
            <a:chExt cx="10778790" cy="1949964"/>
          </a:xfrm>
        </p:grpSpPr>
        <p:sp>
          <p:nvSpPr>
            <p:cNvPr id="3" name="Oval 2">
              <a:extLst>
                <a:ext uri="{FF2B5EF4-FFF2-40B4-BE49-F238E27FC236}">
                  <a16:creationId xmlns:a16="http://schemas.microsoft.com/office/drawing/2014/main" id="{854C87D6-31AF-9E77-2315-87BD5DE6E365}"/>
                </a:ext>
              </a:extLst>
            </p:cNvPr>
            <p:cNvSpPr/>
            <p:nvPr/>
          </p:nvSpPr>
          <p:spPr>
            <a:xfrm>
              <a:off x="627650" y="5035065"/>
              <a:ext cx="1132114" cy="11321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Network diagram with solid fill">
              <a:extLst>
                <a:ext uri="{FF2B5EF4-FFF2-40B4-BE49-F238E27FC236}">
                  <a16:creationId xmlns:a16="http://schemas.microsoft.com/office/drawing/2014/main" id="{525775D4-A9D6-4A72-C5F1-728652C83C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1343" y="5143922"/>
              <a:ext cx="914400" cy="914400"/>
            </a:xfrm>
            <a:prstGeom prst="rect">
              <a:avLst/>
            </a:prstGeom>
          </p:spPr>
        </p:pic>
        <p:sp>
          <p:nvSpPr>
            <p:cNvPr id="8" name="TextBox 7">
              <a:extLst>
                <a:ext uri="{FF2B5EF4-FFF2-40B4-BE49-F238E27FC236}">
                  <a16:creationId xmlns:a16="http://schemas.microsoft.com/office/drawing/2014/main" id="{EBE17E90-2585-82AA-86A0-C1179DF1D871}"/>
                </a:ext>
              </a:extLst>
            </p:cNvPr>
            <p:cNvSpPr txBox="1"/>
            <p:nvPr/>
          </p:nvSpPr>
          <p:spPr>
            <a:xfrm>
              <a:off x="366392" y="6188954"/>
              <a:ext cx="1596912" cy="369332"/>
            </a:xfrm>
            <a:prstGeom prst="rect">
              <a:avLst/>
            </a:prstGeom>
            <a:noFill/>
          </p:spPr>
          <p:txBody>
            <a:bodyPr wrap="none" rtlCol="0">
              <a:spAutoFit/>
            </a:bodyPr>
            <a:lstStyle/>
            <a:p>
              <a:r>
                <a:rPr lang="en-US">
                  <a:solidFill>
                    <a:schemeClr val="accent1"/>
                  </a:solidFill>
                </a:rPr>
                <a:t>Network Data</a:t>
              </a:r>
            </a:p>
          </p:txBody>
        </p:sp>
        <p:sp>
          <p:nvSpPr>
            <p:cNvPr id="14" name="Rounded Rectangle 13">
              <a:extLst>
                <a:ext uri="{FF2B5EF4-FFF2-40B4-BE49-F238E27FC236}">
                  <a16:creationId xmlns:a16="http://schemas.microsoft.com/office/drawing/2014/main" id="{EB9944F9-9B32-763A-4287-B87255FE2E7E}"/>
                </a:ext>
              </a:extLst>
            </p:cNvPr>
            <p:cNvSpPr/>
            <p:nvPr/>
          </p:nvSpPr>
          <p:spPr>
            <a:xfrm>
              <a:off x="9286988" y="4715446"/>
              <a:ext cx="1858194" cy="67633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Classify as an Attack</a:t>
              </a:r>
            </a:p>
          </p:txBody>
        </p:sp>
        <p:sp>
          <p:nvSpPr>
            <p:cNvPr id="19" name="Rounded Rectangle 18">
              <a:extLst>
                <a:ext uri="{FF2B5EF4-FFF2-40B4-BE49-F238E27FC236}">
                  <a16:creationId xmlns:a16="http://schemas.microsoft.com/office/drawing/2014/main" id="{45F62054-7529-A69E-287D-73388CA71064}"/>
                </a:ext>
              </a:extLst>
            </p:cNvPr>
            <p:cNvSpPr/>
            <p:nvPr/>
          </p:nvSpPr>
          <p:spPr>
            <a:xfrm>
              <a:off x="9269629" y="5989072"/>
              <a:ext cx="1858194" cy="676338"/>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Send to Stage 3 </a:t>
              </a:r>
            </a:p>
          </p:txBody>
        </p:sp>
        <p:cxnSp>
          <p:nvCxnSpPr>
            <p:cNvPr id="29" name="Elbow Connector 28">
              <a:extLst>
                <a:ext uri="{FF2B5EF4-FFF2-40B4-BE49-F238E27FC236}">
                  <a16:creationId xmlns:a16="http://schemas.microsoft.com/office/drawing/2014/main" id="{FF5323DC-038C-E97B-6D44-450E9D36070A}"/>
                </a:ext>
              </a:extLst>
            </p:cNvPr>
            <p:cNvCxnSpPr>
              <a:cxnSpLocks/>
            </p:cNvCxnSpPr>
            <p:nvPr/>
          </p:nvCxnSpPr>
          <p:spPr>
            <a:xfrm rot="5400000" flipH="1" flipV="1">
              <a:off x="7955866" y="3982625"/>
              <a:ext cx="267354" cy="23948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Data 19">
              <a:extLst>
                <a:ext uri="{FF2B5EF4-FFF2-40B4-BE49-F238E27FC236}">
                  <a16:creationId xmlns:a16="http://schemas.microsoft.com/office/drawing/2014/main" id="{E9321482-E9A4-C028-C014-88A545DC14C1}"/>
                </a:ext>
              </a:extLst>
            </p:cNvPr>
            <p:cNvSpPr/>
            <p:nvPr/>
          </p:nvSpPr>
          <p:spPr>
            <a:xfrm>
              <a:off x="5841626" y="5147210"/>
              <a:ext cx="2013857" cy="1080938"/>
            </a:xfrm>
            <a:prstGeom prst="flowChartInputOutput">
              <a:avLst/>
            </a:prstGeom>
            <a:solidFill>
              <a:schemeClr val="bg1">
                <a:lumMod val="85000"/>
                <a:lumOff val="1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E093278-3E43-DD47-C90A-62A5EEC5EBFE}"/>
                </a:ext>
              </a:extLst>
            </p:cNvPr>
            <p:cNvSpPr txBox="1"/>
            <p:nvPr/>
          </p:nvSpPr>
          <p:spPr>
            <a:xfrm>
              <a:off x="6234138" y="5373222"/>
              <a:ext cx="1228830" cy="646331"/>
            </a:xfrm>
            <a:prstGeom prst="rect">
              <a:avLst/>
            </a:prstGeom>
            <a:noFill/>
          </p:spPr>
          <p:txBody>
            <a:bodyPr wrap="square" rtlCol="0">
              <a:spAutoFit/>
            </a:bodyPr>
            <a:lstStyle/>
            <a:p>
              <a:pPr algn="ctr"/>
              <a:r>
                <a:rPr lang="en-US">
                  <a:solidFill>
                    <a:schemeClr val="accent1"/>
                  </a:solidFill>
                </a:rPr>
                <a:t>Attack Classifier</a:t>
              </a:r>
            </a:p>
          </p:txBody>
        </p:sp>
        <p:sp>
          <p:nvSpPr>
            <p:cNvPr id="24" name="Down Arrow 23">
              <a:extLst>
                <a:ext uri="{FF2B5EF4-FFF2-40B4-BE49-F238E27FC236}">
                  <a16:creationId xmlns:a16="http://schemas.microsoft.com/office/drawing/2014/main" id="{A026F7FC-52CB-015A-9303-F48826BDB0A5}"/>
                </a:ext>
              </a:extLst>
            </p:cNvPr>
            <p:cNvSpPr/>
            <p:nvPr/>
          </p:nvSpPr>
          <p:spPr>
            <a:xfrm rot="16200000">
              <a:off x="2096173" y="5197431"/>
              <a:ext cx="917689" cy="10580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Elbow Connector 30">
              <a:extLst>
                <a:ext uri="{FF2B5EF4-FFF2-40B4-BE49-F238E27FC236}">
                  <a16:creationId xmlns:a16="http://schemas.microsoft.com/office/drawing/2014/main" id="{A0043302-2D7A-506B-153C-3FCCC65D7764}"/>
                </a:ext>
              </a:extLst>
            </p:cNvPr>
            <p:cNvCxnSpPr>
              <a:cxnSpLocks/>
            </p:cNvCxnSpPr>
            <p:nvPr/>
          </p:nvCxnSpPr>
          <p:spPr>
            <a:xfrm rot="16200000" flipH="1">
              <a:off x="7984780" y="5095486"/>
              <a:ext cx="122438" cy="23948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CC5AE29-BF1F-4FA3-900A-31E30199FAAA}"/>
                </a:ext>
              </a:extLst>
            </p:cNvPr>
            <p:cNvSpPr txBox="1"/>
            <p:nvPr/>
          </p:nvSpPr>
          <p:spPr>
            <a:xfrm>
              <a:off x="7113093" y="4750989"/>
              <a:ext cx="2072940" cy="307777"/>
            </a:xfrm>
            <a:prstGeom prst="rect">
              <a:avLst/>
            </a:prstGeom>
            <a:noFill/>
          </p:spPr>
          <p:txBody>
            <a:bodyPr wrap="none" rtlCol="0">
              <a:spAutoFit/>
            </a:bodyPr>
            <a:lstStyle/>
            <a:p>
              <a:r>
                <a:rPr lang="en-US" sz="1400">
                  <a:solidFill>
                    <a:schemeClr val="bg1"/>
                  </a:solidFill>
                </a:rPr>
                <a:t>&gt; Confidence Threshold</a:t>
              </a:r>
            </a:p>
          </p:txBody>
        </p:sp>
        <p:sp>
          <p:nvSpPr>
            <p:cNvPr id="36" name="TextBox 35">
              <a:extLst>
                <a:ext uri="{FF2B5EF4-FFF2-40B4-BE49-F238E27FC236}">
                  <a16:creationId xmlns:a16="http://schemas.microsoft.com/office/drawing/2014/main" id="{EC9FE81D-5F1A-F61D-0F44-4741CE9446E1}"/>
                </a:ext>
              </a:extLst>
            </p:cNvPr>
            <p:cNvSpPr txBox="1"/>
            <p:nvPr/>
          </p:nvSpPr>
          <p:spPr>
            <a:xfrm>
              <a:off x="7086965" y="6342940"/>
              <a:ext cx="2072940" cy="307777"/>
            </a:xfrm>
            <a:prstGeom prst="rect">
              <a:avLst/>
            </a:prstGeom>
            <a:noFill/>
          </p:spPr>
          <p:txBody>
            <a:bodyPr wrap="none" rtlCol="0">
              <a:spAutoFit/>
            </a:bodyPr>
            <a:lstStyle/>
            <a:p>
              <a:r>
                <a:rPr lang="en-US" sz="1400">
                  <a:solidFill>
                    <a:schemeClr val="bg1"/>
                  </a:solidFill>
                </a:rPr>
                <a:t>&lt; Confidence Threshold</a:t>
              </a:r>
            </a:p>
          </p:txBody>
        </p:sp>
        <p:sp>
          <p:nvSpPr>
            <p:cNvPr id="5" name="Rounded Rectangle 4">
              <a:extLst>
                <a:ext uri="{FF2B5EF4-FFF2-40B4-BE49-F238E27FC236}">
                  <a16:creationId xmlns:a16="http://schemas.microsoft.com/office/drawing/2014/main" id="{3978017E-D984-E670-4DBF-07CBF46CCD13}"/>
                </a:ext>
              </a:extLst>
            </p:cNvPr>
            <p:cNvSpPr/>
            <p:nvPr/>
          </p:nvSpPr>
          <p:spPr>
            <a:xfrm>
              <a:off x="3191328" y="5408168"/>
              <a:ext cx="1385186" cy="636557"/>
            </a:xfrm>
            <a:prstGeom prst="roundRect">
              <a:avLst/>
            </a:prstGeom>
            <a:solidFill>
              <a:schemeClr val="bg1">
                <a:lumMod val="65000"/>
                <a:lumOff val="3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n w="0"/>
                  <a:solidFill>
                    <a:schemeClr val="accent1">
                      <a:lumMod val="60000"/>
                      <a:lumOff val="40000"/>
                    </a:schemeClr>
                  </a:solidFill>
                  <a:effectLst>
                    <a:outerShdw blurRad="38100" dist="25400" dir="5400000" algn="ctr" rotWithShape="0">
                      <a:srgbClr val="6E747A">
                        <a:alpha val="43000"/>
                      </a:srgbClr>
                    </a:outerShdw>
                  </a:effectLst>
                </a:rPr>
                <a:t>Stage 1</a:t>
              </a:r>
            </a:p>
          </p:txBody>
        </p:sp>
        <p:sp>
          <p:nvSpPr>
            <p:cNvPr id="6" name="Down Arrow 5">
              <a:extLst>
                <a:ext uri="{FF2B5EF4-FFF2-40B4-BE49-F238E27FC236}">
                  <a16:creationId xmlns:a16="http://schemas.microsoft.com/office/drawing/2014/main" id="{388437DB-B7A3-A3FE-7FF5-CE5EFB78EB88}"/>
                </a:ext>
              </a:extLst>
            </p:cNvPr>
            <p:cNvSpPr/>
            <p:nvPr/>
          </p:nvSpPr>
          <p:spPr>
            <a:xfrm rot="16200000">
              <a:off x="4853765" y="5240287"/>
              <a:ext cx="917689" cy="10580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9751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634C3-95E6-83D3-BE61-1725DE639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821E1-F877-8AA5-F070-DD88BA9E3325}"/>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4" name="Content Placeholder 3">
            <a:extLst>
              <a:ext uri="{FF2B5EF4-FFF2-40B4-BE49-F238E27FC236}">
                <a16:creationId xmlns:a16="http://schemas.microsoft.com/office/drawing/2014/main" id="{DCB7D937-6099-D743-679F-F9E9F53FA6B5}"/>
              </a:ext>
            </a:extLst>
          </p:cNvPr>
          <p:cNvSpPr>
            <a:spLocks noGrp="1"/>
          </p:cNvSpPr>
          <p:nvPr>
            <p:ph idx="1"/>
          </p:nvPr>
        </p:nvSpPr>
        <p:spPr>
          <a:xfrm>
            <a:off x="582351" y="2143493"/>
            <a:ext cx="11348392" cy="3992388"/>
          </a:xfrm>
        </p:spPr>
        <p:txBody>
          <a:bodyPr>
            <a:noAutofit/>
          </a:bodyPr>
          <a:lstStyle/>
          <a:p>
            <a:pPr marL="0" indent="0">
              <a:lnSpc>
                <a:spcPct val="150000"/>
              </a:lnSpc>
              <a:buNone/>
            </a:pPr>
            <a:r>
              <a:rPr lang="en-US" b="1">
                <a:solidFill>
                  <a:schemeClr val="bg1">
                    <a:lumMod val="85000"/>
                    <a:lumOff val="15000"/>
                  </a:schemeClr>
                </a:solidFill>
              </a:rPr>
              <a:t>Stage 2 of IDS: Attack Classifier</a:t>
            </a:r>
            <a:endParaRPr lang="en-US">
              <a:solidFill>
                <a:schemeClr val="bg1">
                  <a:lumMod val="85000"/>
                  <a:lumOff val="15000"/>
                </a:schemeClr>
              </a:solidFill>
            </a:endParaRPr>
          </a:p>
          <a:p>
            <a:pPr>
              <a:lnSpc>
                <a:spcPct val="100000"/>
              </a:lnSpc>
            </a:pPr>
            <a:r>
              <a:rPr lang="en-US" sz="1600">
                <a:solidFill>
                  <a:schemeClr val="bg1">
                    <a:lumMod val="85000"/>
                    <a:lumOff val="15000"/>
                  </a:schemeClr>
                </a:solidFill>
              </a:rPr>
              <a:t>Uses supervised machine learning models to identify the best attack classifier.</a:t>
            </a:r>
          </a:p>
          <a:p>
            <a:pPr>
              <a:lnSpc>
                <a:spcPct val="100000"/>
              </a:lnSpc>
            </a:pPr>
            <a:r>
              <a:rPr lang="en-US" sz="1600" b="1">
                <a:solidFill>
                  <a:schemeClr val="bg1">
                    <a:lumMod val="85000"/>
                    <a:lumOff val="15000"/>
                  </a:schemeClr>
                </a:solidFill>
              </a:rPr>
              <a:t>Hyperparameter Tuning and Evaluation :</a:t>
            </a:r>
          </a:p>
          <a:p>
            <a:pPr lvl="1">
              <a:lnSpc>
                <a:spcPct val="100000"/>
              </a:lnSpc>
            </a:pPr>
            <a:r>
              <a:rPr lang="en-US" sz="1600">
                <a:solidFill>
                  <a:schemeClr val="bg1">
                    <a:lumMod val="85000"/>
                    <a:lumOff val="15000"/>
                  </a:schemeClr>
                </a:solidFill>
              </a:rPr>
              <a:t>The main goal is to adjust the model to work better with imbalanced data, where some attack types are much more common than others.</a:t>
            </a:r>
          </a:p>
          <a:p>
            <a:pPr lvl="1">
              <a:lnSpc>
                <a:spcPct val="100000"/>
              </a:lnSpc>
            </a:pPr>
            <a:r>
              <a:rPr lang="en-US" sz="1600">
                <a:solidFill>
                  <a:schemeClr val="bg1">
                    <a:lumMod val="85000"/>
                    <a:lumOff val="15000"/>
                  </a:schemeClr>
                </a:solidFill>
              </a:rPr>
              <a:t>The F1 weighted score is used to make sure the model is good at detecting both common and rare attacks.</a:t>
            </a:r>
          </a:p>
        </p:txBody>
      </p:sp>
      <p:pic>
        <p:nvPicPr>
          <p:cNvPr id="11" name="Picture 10" descr="A table with numbers and a number on it&#10;&#10;Description automatically generated">
            <a:extLst>
              <a:ext uri="{FF2B5EF4-FFF2-40B4-BE49-F238E27FC236}">
                <a16:creationId xmlns:a16="http://schemas.microsoft.com/office/drawing/2014/main" id="{D675D63C-9082-5C42-A440-3DFFAE87C74E}"/>
              </a:ext>
            </a:extLst>
          </p:cNvPr>
          <p:cNvPicPr>
            <a:picLocks noChangeAspect="1"/>
          </p:cNvPicPr>
          <p:nvPr/>
        </p:nvPicPr>
        <p:blipFill>
          <a:blip r:embed="rId3"/>
          <a:stretch>
            <a:fillRect/>
          </a:stretch>
        </p:blipFill>
        <p:spPr>
          <a:xfrm>
            <a:off x="582351" y="4609954"/>
            <a:ext cx="7772400" cy="2067127"/>
          </a:xfrm>
          <a:prstGeom prst="rect">
            <a:avLst/>
          </a:prstGeom>
        </p:spPr>
      </p:pic>
      <p:sp>
        <p:nvSpPr>
          <p:cNvPr id="12" name="TextBox 11">
            <a:extLst>
              <a:ext uri="{FF2B5EF4-FFF2-40B4-BE49-F238E27FC236}">
                <a16:creationId xmlns:a16="http://schemas.microsoft.com/office/drawing/2014/main" id="{8C228AEB-EB6B-DB0C-F82A-6D210D10E61D}"/>
              </a:ext>
            </a:extLst>
          </p:cNvPr>
          <p:cNvSpPr txBox="1"/>
          <p:nvPr/>
        </p:nvSpPr>
        <p:spPr>
          <a:xfrm>
            <a:off x="8319915" y="5485461"/>
            <a:ext cx="3480198" cy="1200329"/>
          </a:xfrm>
          <a:prstGeom prst="rect">
            <a:avLst/>
          </a:prstGeom>
          <a:noFill/>
        </p:spPr>
        <p:txBody>
          <a:bodyPr wrap="square" rtlCol="0">
            <a:spAutoFit/>
          </a:bodyPr>
          <a:lstStyle/>
          <a:p>
            <a:r>
              <a:rPr lang="en-US" sz="1200">
                <a:solidFill>
                  <a:schemeClr val="bg1">
                    <a:lumMod val="65000"/>
                    <a:lumOff val="35000"/>
                  </a:schemeClr>
                </a:solidFill>
              </a:rPr>
              <a:t>For example, in the case of the CICIDS-2017 and CICIDS-2018 datasets, we discovered that the </a:t>
            </a:r>
            <a:r>
              <a:rPr lang="en-US" sz="1200" b="1">
                <a:solidFill>
                  <a:schemeClr val="bg1">
                    <a:lumMod val="65000"/>
                    <a:lumOff val="35000"/>
                  </a:schemeClr>
                </a:solidFill>
              </a:rPr>
              <a:t>Random Forest Classifier </a:t>
            </a:r>
            <a:r>
              <a:rPr lang="en-US" sz="1200">
                <a:solidFill>
                  <a:schemeClr val="bg1">
                    <a:lumMod val="65000"/>
                    <a:lumOff val="35000"/>
                  </a:schemeClr>
                </a:solidFill>
              </a:rPr>
              <a:t>outperformed other classifiers in terms of accuracy and detection capabilities, providing better results for classifying attack types</a:t>
            </a:r>
          </a:p>
        </p:txBody>
      </p:sp>
    </p:spTree>
    <p:extLst>
      <p:ext uri="{BB962C8B-B14F-4D97-AF65-F5344CB8AC3E}">
        <p14:creationId xmlns:p14="http://schemas.microsoft.com/office/powerpoint/2010/main" val="3340674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B9FDB-B47C-39D8-E195-302A588A0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AB043-F64B-6837-66FE-2A15EA21D515}"/>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4" name="Content Placeholder 3">
            <a:extLst>
              <a:ext uri="{FF2B5EF4-FFF2-40B4-BE49-F238E27FC236}">
                <a16:creationId xmlns:a16="http://schemas.microsoft.com/office/drawing/2014/main" id="{E100EE15-4AB6-6E54-F059-C8EA483AD621}"/>
              </a:ext>
            </a:extLst>
          </p:cNvPr>
          <p:cNvSpPr>
            <a:spLocks noGrp="1"/>
          </p:cNvSpPr>
          <p:nvPr>
            <p:ph idx="1"/>
          </p:nvPr>
        </p:nvSpPr>
        <p:spPr>
          <a:xfrm>
            <a:off x="582351" y="2143493"/>
            <a:ext cx="7081192" cy="3992388"/>
          </a:xfrm>
        </p:spPr>
        <p:txBody>
          <a:bodyPr>
            <a:noAutofit/>
          </a:bodyPr>
          <a:lstStyle/>
          <a:p>
            <a:pPr marL="0" indent="0">
              <a:lnSpc>
                <a:spcPct val="150000"/>
              </a:lnSpc>
              <a:buNone/>
            </a:pPr>
            <a:r>
              <a:rPr lang="en-US" b="1">
                <a:solidFill>
                  <a:schemeClr val="bg1">
                    <a:lumMod val="85000"/>
                    <a:lumOff val="15000"/>
                  </a:schemeClr>
                </a:solidFill>
              </a:rPr>
              <a:t>Stage 2 of IDS: Attack Classifier</a:t>
            </a:r>
          </a:p>
          <a:p>
            <a:pPr marL="0" indent="0">
              <a:buNone/>
            </a:pPr>
            <a:endParaRPr lang="en-US" b="1">
              <a:solidFill>
                <a:schemeClr val="bg1">
                  <a:lumMod val="85000"/>
                  <a:lumOff val="15000"/>
                </a:schemeClr>
              </a:solidFill>
            </a:endParaRPr>
          </a:p>
          <a:p>
            <a:pPr marL="0" indent="0">
              <a:buNone/>
            </a:pPr>
            <a:endParaRPr lang="en-US" b="1">
              <a:solidFill>
                <a:schemeClr val="bg1">
                  <a:lumMod val="85000"/>
                  <a:lumOff val="15000"/>
                </a:schemeClr>
              </a:solidFill>
            </a:endParaRPr>
          </a:p>
          <a:p>
            <a:pPr marL="0" indent="0">
              <a:buNone/>
            </a:pPr>
            <a:endParaRPr lang="en-US" b="1">
              <a:solidFill>
                <a:schemeClr val="bg1">
                  <a:lumMod val="85000"/>
                  <a:lumOff val="15000"/>
                </a:schemeClr>
              </a:solidFill>
            </a:endParaRPr>
          </a:p>
          <a:p>
            <a:pPr marL="0" indent="0">
              <a:buNone/>
            </a:pPr>
            <a:r>
              <a:rPr lang="en-US" sz="1600" b="1">
                <a:solidFill>
                  <a:schemeClr val="bg1"/>
                </a:solidFill>
              </a:rPr>
              <a:t>Confusion Matrix with Confidence Threshold in Stage 2:</a:t>
            </a:r>
            <a:endParaRPr lang="en-US" sz="1600">
              <a:solidFill>
                <a:schemeClr val="bg1"/>
              </a:solidFill>
            </a:endParaRPr>
          </a:p>
          <a:p>
            <a:pPr marL="285750" indent="-285750">
              <a:buFont typeface="Arial" panose="020B0604020202020204" pitchFamily="34" charset="0"/>
              <a:buChar char="•"/>
            </a:pPr>
            <a:r>
              <a:rPr lang="en-US" sz="1600">
                <a:solidFill>
                  <a:schemeClr val="bg1"/>
                </a:solidFill>
              </a:rPr>
              <a:t>Most attack traffic was correctly identified as attacks.</a:t>
            </a:r>
          </a:p>
          <a:p>
            <a:pPr marL="285750" indent="-285750">
              <a:buFont typeface="Arial" panose="020B0604020202020204" pitchFamily="34" charset="0"/>
              <a:buChar char="•"/>
            </a:pPr>
            <a:r>
              <a:rPr lang="en-US" sz="1600">
                <a:solidFill>
                  <a:schemeClr val="bg1"/>
                </a:solidFill>
              </a:rPr>
              <a:t>Traffic that didn’t meet the confidence threshold was labeled as </a:t>
            </a:r>
            <a:r>
              <a:rPr lang="en-US" sz="1600" b="1">
                <a:solidFill>
                  <a:schemeClr val="bg1"/>
                </a:solidFill>
              </a:rPr>
              <a:t>"Unknown."</a:t>
            </a:r>
          </a:p>
          <a:p>
            <a:pPr marL="285750" indent="-285750">
              <a:buFont typeface="Arial" panose="020B0604020202020204" pitchFamily="34" charset="0"/>
              <a:buChar char="•"/>
            </a:pPr>
            <a:r>
              <a:rPr lang="en-US" sz="1600">
                <a:solidFill>
                  <a:schemeClr val="bg1"/>
                </a:solidFill>
              </a:rPr>
              <a:t>Some benign traffic was also mistakenly labeled as "Unknown”, which will be rectified in stage 3</a:t>
            </a:r>
          </a:p>
          <a:p>
            <a:endParaRPr lang="en-US" sz="2400">
              <a:solidFill>
                <a:schemeClr val="bg1"/>
              </a:solidFill>
            </a:endParaRPr>
          </a:p>
          <a:p>
            <a:pPr>
              <a:lnSpc>
                <a:spcPct val="150000"/>
              </a:lnSpc>
            </a:pPr>
            <a:endParaRPr lang="en-US">
              <a:solidFill>
                <a:schemeClr val="bg1">
                  <a:lumMod val="85000"/>
                  <a:lumOff val="15000"/>
                </a:schemeClr>
              </a:solidFill>
            </a:endParaRPr>
          </a:p>
        </p:txBody>
      </p:sp>
      <p:pic>
        <p:nvPicPr>
          <p:cNvPr id="3" name="Picture 2" descr="A screenshot of a graph&#10;&#10;Description automatically generated">
            <a:extLst>
              <a:ext uri="{FF2B5EF4-FFF2-40B4-BE49-F238E27FC236}">
                <a16:creationId xmlns:a16="http://schemas.microsoft.com/office/drawing/2014/main" id="{EBDF5391-DED1-50C2-D1DC-25EB10B0D01C}"/>
              </a:ext>
            </a:extLst>
          </p:cNvPr>
          <p:cNvPicPr>
            <a:picLocks noChangeAspect="1"/>
          </p:cNvPicPr>
          <p:nvPr/>
        </p:nvPicPr>
        <p:blipFill>
          <a:blip r:embed="rId3"/>
          <a:stretch>
            <a:fillRect/>
          </a:stretch>
        </p:blipFill>
        <p:spPr>
          <a:xfrm>
            <a:off x="7585166" y="2419712"/>
            <a:ext cx="4024483" cy="4156125"/>
          </a:xfrm>
          <a:prstGeom prst="rect">
            <a:avLst/>
          </a:prstGeom>
        </p:spPr>
      </p:pic>
      <p:sp>
        <p:nvSpPr>
          <p:cNvPr id="6" name="Rectangle: Rounded Corners 9">
            <a:extLst>
              <a:ext uri="{FF2B5EF4-FFF2-40B4-BE49-F238E27FC236}">
                <a16:creationId xmlns:a16="http://schemas.microsoft.com/office/drawing/2014/main" id="{8D213870-4A31-B1D4-4DBF-AFFD3EB67E3E}"/>
              </a:ext>
            </a:extLst>
          </p:cNvPr>
          <p:cNvSpPr/>
          <p:nvPr/>
        </p:nvSpPr>
        <p:spPr>
          <a:xfrm>
            <a:off x="458798" y="2912298"/>
            <a:ext cx="6610929" cy="99785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7DECC060-370F-9AED-2F01-76DDD267DECE}"/>
              </a:ext>
            </a:extLst>
          </p:cNvPr>
          <p:cNvSpPr txBox="1"/>
          <p:nvPr/>
        </p:nvSpPr>
        <p:spPr>
          <a:xfrm>
            <a:off x="477848" y="2988497"/>
            <a:ext cx="6610929" cy="830997"/>
          </a:xfrm>
          <a:prstGeom prst="rect">
            <a:avLst/>
          </a:prstGeom>
          <a:noFill/>
        </p:spPr>
        <p:txBody>
          <a:bodyPr wrap="square" rtlCol="0">
            <a:spAutoFit/>
          </a:bodyPr>
          <a:lstStyle/>
          <a:p>
            <a:pPr algn="ctr"/>
            <a:r>
              <a:rPr lang="en-US" sz="1600">
                <a:solidFill>
                  <a:schemeClr val="bg1"/>
                </a:solidFill>
              </a:rPr>
              <a:t>The </a:t>
            </a:r>
            <a:r>
              <a:rPr lang="en-US" sz="1600" b="1">
                <a:solidFill>
                  <a:schemeClr val="bg1"/>
                </a:solidFill>
              </a:rPr>
              <a:t>confidence threshold </a:t>
            </a:r>
            <a:r>
              <a:rPr lang="en-US" sz="1600">
                <a:solidFill>
                  <a:schemeClr val="bg1"/>
                </a:solidFill>
              </a:rPr>
              <a:t>is chosen by testing different values. The best threshold is the one that gives the highest F1 score, balancing correct attack detection and minimizing errors.</a:t>
            </a:r>
          </a:p>
        </p:txBody>
      </p:sp>
    </p:spTree>
    <p:extLst>
      <p:ext uri="{BB962C8B-B14F-4D97-AF65-F5344CB8AC3E}">
        <p14:creationId xmlns:p14="http://schemas.microsoft.com/office/powerpoint/2010/main" val="411035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53D5D-5EB8-18A7-C6E5-1E5711471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54A4F-1B85-E54D-508F-5343764025BE}"/>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4" name="Content Placeholder 3">
            <a:extLst>
              <a:ext uri="{FF2B5EF4-FFF2-40B4-BE49-F238E27FC236}">
                <a16:creationId xmlns:a16="http://schemas.microsoft.com/office/drawing/2014/main" id="{61C3A9C9-AAB3-6CEC-7184-F7CA3594AB11}"/>
              </a:ext>
            </a:extLst>
          </p:cNvPr>
          <p:cNvSpPr>
            <a:spLocks noGrp="1"/>
          </p:cNvSpPr>
          <p:nvPr>
            <p:ph idx="1"/>
          </p:nvPr>
        </p:nvSpPr>
        <p:spPr>
          <a:xfrm>
            <a:off x="582351" y="2143493"/>
            <a:ext cx="11348392" cy="3992388"/>
          </a:xfrm>
        </p:spPr>
        <p:txBody>
          <a:bodyPr>
            <a:noAutofit/>
          </a:bodyPr>
          <a:lstStyle/>
          <a:p>
            <a:pPr marL="0" indent="0">
              <a:lnSpc>
                <a:spcPct val="150000"/>
              </a:lnSpc>
              <a:buNone/>
            </a:pPr>
            <a:r>
              <a:rPr lang="en-US" b="1">
                <a:solidFill>
                  <a:schemeClr val="bg1">
                    <a:lumMod val="85000"/>
                    <a:lumOff val="15000"/>
                  </a:schemeClr>
                </a:solidFill>
              </a:rPr>
              <a:t>Stage 3 of IDS: Zero Day Attack Classifier</a:t>
            </a:r>
            <a:endParaRPr lang="en-US">
              <a:solidFill>
                <a:schemeClr val="bg1">
                  <a:lumMod val="85000"/>
                  <a:lumOff val="15000"/>
                </a:schemeClr>
              </a:solidFill>
            </a:endParaRPr>
          </a:p>
          <a:p>
            <a:pPr>
              <a:lnSpc>
                <a:spcPct val="100000"/>
              </a:lnSpc>
            </a:pPr>
            <a:r>
              <a:rPr lang="en-US" sz="1600">
                <a:solidFill>
                  <a:schemeClr val="bg1">
                    <a:lumMod val="85000"/>
                    <a:lumOff val="15000"/>
                  </a:schemeClr>
                </a:solidFill>
              </a:rPr>
              <a:t>This stage focuses on refining the classification of "Unknown" samples from Stage 2.</a:t>
            </a:r>
          </a:p>
          <a:p>
            <a:pPr>
              <a:lnSpc>
                <a:spcPct val="100000"/>
              </a:lnSpc>
            </a:pPr>
            <a:r>
              <a:rPr lang="en-US" sz="1600">
                <a:solidFill>
                  <a:schemeClr val="bg1"/>
                </a:solidFill>
              </a:rPr>
              <a:t>A new threshold, called the </a:t>
            </a:r>
            <a:r>
              <a:rPr lang="en-US" sz="1600" b="1">
                <a:solidFill>
                  <a:schemeClr val="bg1"/>
                </a:solidFill>
              </a:rPr>
              <a:t>Zero Day Threshold</a:t>
            </a:r>
            <a:r>
              <a:rPr lang="en-US" sz="1600">
                <a:solidFill>
                  <a:schemeClr val="bg1"/>
                </a:solidFill>
              </a:rPr>
              <a:t>, is introduced to classify potential zero-day attacks.</a:t>
            </a:r>
          </a:p>
        </p:txBody>
      </p:sp>
      <p:sp>
        <p:nvSpPr>
          <p:cNvPr id="3" name="Oval 2">
            <a:extLst>
              <a:ext uri="{FF2B5EF4-FFF2-40B4-BE49-F238E27FC236}">
                <a16:creationId xmlns:a16="http://schemas.microsoft.com/office/drawing/2014/main" id="{0576DCCC-D912-6BBA-B1AE-4ECE4163EB7A}"/>
              </a:ext>
            </a:extLst>
          </p:cNvPr>
          <p:cNvSpPr/>
          <p:nvPr/>
        </p:nvSpPr>
        <p:spPr>
          <a:xfrm>
            <a:off x="1128410" y="4684235"/>
            <a:ext cx="1132114" cy="11321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Network diagram with solid fill">
            <a:extLst>
              <a:ext uri="{FF2B5EF4-FFF2-40B4-BE49-F238E27FC236}">
                <a16:creationId xmlns:a16="http://schemas.microsoft.com/office/drawing/2014/main" id="{35D7726A-75E2-B232-AA3B-97F1BBA3C9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72103" y="4793092"/>
            <a:ext cx="914400" cy="914400"/>
          </a:xfrm>
          <a:prstGeom prst="rect">
            <a:avLst/>
          </a:prstGeom>
        </p:spPr>
      </p:pic>
      <p:sp>
        <p:nvSpPr>
          <p:cNvPr id="8" name="TextBox 7">
            <a:extLst>
              <a:ext uri="{FF2B5EF4-FFF2-40B4-BE49-F238E27FC236}">
                <a16:creationId xmlns:a16="http://schemas.microsoft.com/office/drawing/2014/main" id="{9557DC83-0268-2FF3-563F-B115C76AE73F}"/>
              </a:ext>
            </a:extLst>
          </p:cNvPr>
          <p:cNvSpPr txBox="1"/>
          <p:nvPr/>
        </p:nvSpPr>
        <p:spPr>
          <a:xfrm>
            <a:off x="867152" y="5838124"/>
            <a:ext cx="1596912" cy="369332"/>
          </a:xfrm>
          <a:prstGeom prst="rect">
            <a:avLst/>
          </a:prstGeom>
          <a:noFill/>
        </p:spPr>
        <p:txBody>
          <a:bodyPr wrap="none" rtlCol="0">
            <a:spAutoFit/>
          </a:bodyPr>
          <a:lstStyle/>
          <a:p>
            <a:r>
              <a:rPr lang="en-US">
                <a:solidFill>
                  <a:schemeClr val="accent1"/>
                </a:solidFill>
              </a:rPr>
              <a:t>Network Data</a:t>
            </a:r>
          </a:p>
        </p:txBody>
      </p:sp>
      <p:sp>
        <p:nvSpPr>
          <p:cNvPr id="14" name="Rounded Rectangle 13">
            <a:extLst>
              <a:ext uri="{FF2B5EF4-FFF2-40B4-BE49-F238E27FC236}">
                <a16:creationId xmlns:a16="http://schemas.microsoft.com/office/drawing/2014/main" id="{2CB87578-67C7-E8B5-171A-6BE10B1AB1A7}"/>
              </a:ext>
            </a:extLst>
          </p:cNvPr>
          <p:cNvSpPr/>
          <p:nvPr/>
        </p:nvSpPr>
        <p:spPr>
          <a:xfrm>
            <a:off x="9787748" y="4364616"/>
            <a:ext cx="1858194" cy="67633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Label as Zero Day Attack</a:t>
            </a:r>
          </a:p>
        </p:txBody>
      </p:sp>
      <p:sp>
        <p:nvSpPr>
          <p:cNvPr id="19" name="Rounded Rectangle 18">
            <a:extLst>
              <a:ext uri="{FF2B5EF4-FFF2-40B4-BE49-F238E27FC236}">
                <a16:creationId xmlns:a16="http://schemas.microsoft.com/office/drawing/2014/main" id="{5D51FA61-9719-D58A-1659-E2015C8DBB8E}"/>
              </a:ext>
            </a:extLst>
          </p:cNvPr>
          <p:cNvSpPr/>
          <p:nvPr/>
        </p:nvSpPr>
        <p:spPr>
          <a:xfrm>
            <a:off x="9770389" y="5638242"/>
            <a:ext cx="1858194" cy="676338"/>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Label as Benign</a:t>
            </a:r>
          </a:p>
        </p:txBody>
      </p:sp>
      <p:cxnSp>
        <p:nvCxnSpPr>
          <p:cNvPr id="29" name="Elbow Connector 28">
            <a:extLst>
              <a:ext uri="{FF2B5EF4-FFF2-40B4-BE49-F238E27FC236}">
                <a16:creationId xmlns:a16="http://schemas.microsoft.com/office/drawing/2014/main" id="{FBD2F1ED-BEFC-00B5-5490-1E8E5715D766}"/>
              </a:ext>
            </a:extLst>
          </p:cNvPr>
          <p:cNvCxnSpPr>
            <a:cxnSpLocks/>
          </p:cNvCxnSpPr>
          <p:nvPr/>
        </p:nvCxnSpPr>
        <p:spPr>
          <a:xfrm rot="5400000" flipH="1" flipV="1">
            <a:off x="8456626" y="3631795"/>
            <a:ext cx="267354" cy="23948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Data 19">
            <a:extLst>
              <a:ext uri="{FF2B5EF4-FFF2-40B4-BE49-F238E27FC236}">
                <a16:creationId xmlns:a16="http://schemas.microsoft.com/office/drawing/2014/main" id="{8E94FB1D-BB5A-D298-8766-7D2A7C8FD6A3}"/>
              </a:ext>
            </a:extLst>
          </p:cNvPr>
          <p:cNvSpPr/>
          <p:nvPr/>
        </p:nvSpPr>
        <p:spPr>
          <a:xfrm>
            <a:off x="6342386" y="4796380"/>
            <a:ext cx="2013857" cy="1080938"/>
          </a:xfrm>
          <a:prstGeom prst="flowChartInputOutput">
            <a:avLst/>
          </a:prstGeom>
          <a:solidFill>
            <a:schemeClr val="bg1">
              <a:lumMod val="85000"/>
              <a:lumOff val="1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A6E1A76-92F4-A16A-EEF2-372DB0F6FCA4}"/>
              </a:ext>
            </a:extLst>
          </p:cNvPr>
          <p:cNvSpPr txBox="1"/>
          <p:nvPr/>
        </p:nvSpPr>
        <p:spPr>
          <a:xfrm>
            <a:off x="6734898" y="4909175"/>
            <a:ext cx="1228830" cy="923330"/>
          </a:xfrm>
          <a:prstGeom prst="rect">
            <a:avLst/>
          </a:prstGeom>
          <a:noFill/>
        </p:spPr>
        <p:txBody>
          <a:bodyPr wrap="square" rtlCol="0">
            <a:spAutoFit/>
          </a:bodyPr>
          <a:lstStyle/>
          <a:p>
            <a:pPr algn="ctr"/>
            <a:r>
              <a:rPr lang="en-US">
                <a:solidFill>
                  <a:schemeClr val="accent1"/>
                </a:solidFill>
              </a:rPr>
              <a:t>Zero Day Attack Classifier</a:t>
            </a:r>
          </a:p>
        </p:txBody>
      </p:sp>
      <p:sp>
        <p:nvSpPr>
          <p:cNvPr id="24" name="Down Arrow 23">
            <a:extLst>
              <a:ext uri="{FF2B5EF4-FFF2-40B4-BE49-F238E27FC236}">
                <a16:creationId xmlns:a16="http://schemas.microsoft.com/office/drawing/2014/main" id="{F99570F5-5F4B-5F0E-B9CF-44446D9EF227}"/>
              </a:ext>
            </a:extLst>
          </p:cNvPr>
          <p:cNvSpPr/>
          <p:nvPr/>
        </p:nvSpPr>
        <p:spPr>
          <a:xfrm rot="16200000">
            <a:off x="2596933" y="4846601"/>
            <a:ext cx="917689" cy="10580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Elbow Connector 30">
            <a:extLst>
              <a:ext uri="{FF2B5EF4-FFF2-40B4-BE49-F238E27FC236}">
                <a16:creationId xmlns:a16="http://schemas.microsoft.com/office/drawing/2014/main" id="{9E603B22-616E-8DBE-E936-87695837E0B4}"/>
              </a:ext>
            </a:extLst>
          </p:cNvPr>
          <p:cNvCxnSpPr>
            <a:cxnSpLocks/>
          </p:cNvCxnSpPr>
          <p:nvPr/>
        </p:nvCxnSpPr>
        <p:spPr>
          <a:xfrm rot="16200000" flipH="1">
            <a:off x="8485540" y="4744656"/>
            <a:ext cx="122438" cy="23948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E9A61C7-0779-53A3-3053-793766D0905D}"/>
              </a:ext>
            </a:extLst>
          </p:cNvPr>
          <p:cNvSpPr txBox="1"/>
          <p:nvPr/>
        </p:nvSpPr>
        <p:spPr>
          <a:xfrm>
            <a:off x="7613853" y="4400159"/>
            <a:ext cx="1885388" cy="307777"/>
          </a:xfrm>
          <a:prstGeom prst="rect">
            <a:avLst/>
          </a:prstGeom>
          <a:noFill/>
        </p:spPr>
        <p:txBody>
          <a:bodyPr wrap="none" rtlCol="0">
            <a:spAutoFit/>
          </a:bodyPr>
          <a:lstStyle/>
          <a:p>
            <a:r>
              <a:rPr lang="en-US" sz="1400">
                <a:solidFill>
                  <a:schemeClr val="bg1"/>
                </a:solidFill>
              </a:rPr>
              <a:t>&gt; Zero Day Threshold</a:t>
            </a:r>
          </a:p>
        </p:txBody>
      </p:sp>
      <p:sp>
        <p:nvSpPr>
          <p:cNvPr id="36" name="TextBox 35">
            <a:extLst>
              <a:ext uri="{FF2B5EF4-FFF2-40B4-BE49-F238E27FC236}">
                <a16:creationId xmlns:a16="http://schemas.microsoft.com/office/drawing/2014/main" id="{DA1E77E5-1D8F-6A2F-EA0B-15B5956AD395}"/>
              </a:ext>
            </a:extLst>
          </p:cNvPr>
          <p:cNvSpPr txBox="1"/>
          <p:nvPr/>
        </p:nvSpPr>
        <p:spPr>
          <a:xfrm>
            <a:off x="7587725" y="5992110"/>
            <a:ext cx="1885388" cy="307777"/>
          </a:xfrm>
          <a:prstGeom prst="rect">
            <a:avLst/>
          </a:prstGeom>
          <a:noFill/>
        </p:spPr>
        <p:txBody>
          <a:bodyPr wrap="none" rtlCol="0">
            <a:spAutoFit/>
          </a:bodyPr>
          <a:lstStyle/>
          <a:p>
            <a:r>
              <a:rPr lang="en-US" sz="1400">
                <a:solidFill>
                  <a:schemeClr val="bg1"/>
                </a:solidFill>
              </a:rPr>
              <a:t>&lt; Zero Day Threshold</a:t>
            </a:r>
          </a:p>
        </p:txBody>
      </p:sp>
      <p:sp>
        <p:nvSpPr>
          <p:cNvPr id="5" name="Rounded Rectangle 4">
            <a:extLst>
              <a:ext uri="{FF2B5EF4-FFF2-40B4-BE49-F238E27FC236}">
                <a16:creationId xmlns:a16="http://schemas.microsoft.com/office/drawing/2014/main" id="{B37B6CF8-B6FD-0D14-DA25-144026EEC536}"/>
              </a:ext>
            </a:extLst>
          </p:cNvPr>
          <p:cNvSpPr/>
          <p:nvPr/>
        </p:nvSpPr>
        <p:spPr>
          <a:xfrm>
            <a:off x="3692087" y="5057338"/>
            <a:ext cx="1428689" cy="636557"/>
          </a:xfrm>
          <a:prstGeom prst="roundRect">
            <a:avLst/>
          </a:prstGeom>
          <a:solidFill>
            <a:schemeClr val="bg1">
              <a:lumMod val="65000"/>
              <a:lumOff val="3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n w="0"/>
                <a:solidFill>
                  <a:schemeClr val="accent1">
                    <a:lumMod val="60000"/>
                    <a:lumOff val="40000"/>
                  </a:schemeClr>
                </a:solidFill>
                <a:effectLst>
                  <a:outerShdw blurRad="38100" dist="25400" dir="5400000" algn="ctr" rotWithShape="0">
                    <a:srgbClr val="6E747A">
                      <a:alpha val="43000"/>
                    </a:srgbClr>
                  </a:outerShdw>
                </a:effectLst>
              </a:rPr>
              <a:t>Stage 1 &amp; 2</a:t>
            </a:r>
          </a:p>
        </p:txBody>
      </p:sp>
      <p:sp>
        <p:nvSpPr>
          <p:cNvPr id="6" name="Down Arrow 5">
            <a:extLst>
              <a:ext uri="{FF2B5EF4-FFF2-40B4-BE49-F238E27FC236}">
                <a16:creationId xmlns:a16="http://schemas.microsoft.com/office/drawing/2014/main" id="{3690D429-9896-9FFD-B701-CF6FC5169669}"/>
              </a:ext>
            </a:extLst>
          </p:cNvPr>
          <p:cNvSpPr/>
          <p:nvPr/>
        </p:nvSpPr>
        <p:spPr>
          <a:xfrm rot="16200000">
            <a:off x="5354525" y="4889457"/>
            <a:ext cx="917689" cy="105803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7756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247F3-4C23-7316-B460-4D3139B51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5DD6D-C36E-9638-B5F7-50627F56FD5B}"/>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4" name="Content Placeholder 3">
            <a:extLst>
              <a:ext uri="{FF2B5EF4-FFF2-40B4-BE49-F238E27FC236}">
                <a16:creationId xmlns:a16="http://schemas.microsoft.com/office/drawing/2014/main" id="{C4874DC4-4930-ADE5-F43A-1AE5A3BDE7DD}"/>
              </a:ext>
            </a:extLst>
          </p:cNvPr>
          <p:cNvSpPr>
            <a:spLocks noGrp="1"/>
          </p:cNvSpPr>
          <p:nvPr>
            <p:ph idx="1"/>
          </p:nvPr>
        </p:nvSpPr>
        <p:spPr>
          <a:xfrm>
            <a:off x="582351" y="2143492"/>
            <a:ext cx="10904255" cy="1435731"/>
          </a:xfrm>
        </p:spPr>
        <p:txBody>
          <a:bodyPr>
            <a:noAutofit/>
          </a:bodyPr>
          <a:lstStyle/>
          <a:p>
            <a:pPr marL="0" indent="0">
              <a:lnSpc>
                <a:spcPct val="150000"/>
              </a:lnSpc>
              <a:buNone/>
            </a:pPr>
            <a:r>
              <a:rPr lang="en-US" b="1">
                <a:solidFill>
                  <a:schemeClr val="bg1">
                    <a:lumMod val="85000"/>
                    <a:lumOff val="15000"/>
                  </a:schemeClr>
                </a:solidFill>
              </a:rPr>
              <a:t>Stage 3 of IDS: Zero Day Attack Classifier</a:t>
            </a:r>
            <a:endParaRPr lang="en-US" sz="1800" b="1">
              <a:solidFill>
                <a:schemeClr val="bg1">
                  <a:lumMod val="85000"/>
                  <a:lumOff val="15000"/>
                </a:schemeClr>
              </a:solidFill>
            </a:endParaRPr>
          </a:p>
          <a:p>
            <a:pPr>
              <a:lnSpc>
                <a:spcPct val="100000"/>
              </a:lnSpc>
            </a:pPr>
            <a:r>
              <a:rPr lang="en-US" sz="1600">
                <a:solidFill>
                  <a:schemeClr val="bg1"/>
                </a:solidFill>
              </a:rPr>
              <a:t>The </a:t>
            </a:r>
            <a:r>
              <a:rPr lang="en-US" sz="1600" b="1">
                <a:solidFill>
                  <a:schemeClr val="bg1"/>
                </a:solidFill>
              </a:rPr>
              <a:t>anomaly score </a:t>
            </a:r>
            <a:r>
              <a:rPr lang="en-US" sz="1600">
                <a:solidFill>
                  <a:schemeClr val="bg1"/>
                </a:solidFill>
              </a:rPr>
              <a:t>generated by the Stage 1 anomaly detector is reused in Stage 3 to evaluate samples against the Zero-Day Threshold.</a:t>
            </a:r>
          </a:p>
          <a:p>
            <a:pPr marL="0" indent="0">
              <a:lnSpc>
                <a:spcPct val="100000"/>
              </a:lnSpc>
              <a:buNone/>
            </a:pPr>
            <a:endParaRPr lang="en-US" sz="1600">
              <a:solidFill>
                <a:schemeClr val="bg1"/>
              </a:solidFill>
            </a:endParaRPr>
          </a:p>
        </p:txBody>
      </p:sp>
      <p:pic>
        <p:nvPicPr>
          <p:cNvPr id="1026" name="Picture 2" descr="Output image">
            <a:extLst>
              <a:ext uri="{FF2B5EF4-FFF2-40B4-BE49-F238E27FC236}">
                <a16:creationId xmlns:a16="http://schemas.microsoft.com/office/drawing/2014/main" id="{1C8ED172-D0C1-69FC-BFC6-282692710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8960" y="3341915"/>
            <a:ext cx="5034052" cy="31223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DE7FF08-1B19-ABD2-5467-F45F59C2767C}"/>
              </a:ext>
            </a:extLst>
          </p:cNvPr>
          <p:cNvSpPr txBox="1"/>
          <p:nvPr/>
        </p:nvSpPr>
        <p:spPr>
          <a:xfrm>
            <a:off x="680321" y="3579223"/>
            <a:ext cx="5252721" cy="3046988"/>
          </a:xfrm>
          <a:prstGeom prst="rect">
            <a:avLst/>
          </a:prstGeom>
          <a:noFill/>
        </p:spPr>
        <p:txBody>
          <a:bodyPr wrap="square" rtlCol="0">
            <a:spAutoFit/>
          </a:bodyPr>
          <a:lstStyle/>
          <a:p>
            <a:pPr marL="285750" indent="-285750">
              <a:buFont typeface="Arial" panose="020B0604020202020204" pitchFamily="34" charset="0"/>
              <a:buChar char="•"/>
            </a:pPr>
            <a:r>
              <a:rPr lang="en-US" sz="1600">
                <a:solidFill>
                  <a:schemeClr val="bg1"/>
                </a:solidFill>
              </a:rPr>
              <a:t>The Zero-Day Threshold helps identify new, unseen attacks (zero-day attacks) based on anomaly scores.</a:t>
            </a:r>
          </a:p>
          <a:p>
            <a:pPr marL="285750" indent="-285750">
              <a:buFont typeface="Arial" panose="020B0604020202020204" pitchFamily="34" charset="0"/>
              <a:buChar char="•"/>
            </a:pPr>
            <a:endParaRPr lang="en-US" sz="1600">
              <a:solidFill>
                <a:schemeClr val="bg1"/>
              </a:solidFill>
            </a:endParaRPr>
          </a:p>
          <a:p>
            <a:pPr marL="285750" indent="-285750">
              <a:buFont typeface="Arial" panose="020B0604020202020204" pitchFamily="34" charset="0"/>
              <a:buChar char="•"/>
            </a:pPr>
            <a:r>
              <a:rPr lang="en-US" sz="1600">
                <a:solidFill>
                  <a:schemeClr val="bg1"/>
                </a:solidFill>
              </a:rPr>
              <a:t>Samples with scores above the threshold are flagged as potential zero-day attacks.</a:t>
            </a:r>
          </a:p>
          <a:p>
            <a:pPr marL="285750" indent="-285750">
              <a:buFont typeface="Arial" panose="020B0604020202020204" pitchFamily="34" charset="0"/>
              <a:buChar char="•"/>
            </a:pPr>
            <a:endParaRPr lang="en-US" sz="1600">
              <a:solidFill>
                <a:schemeClr val="bg1"/>
              </a:solidFill>
            </a:endParaRPr>
          </a:p>
          <a:p>
            <a:pPr marL="285750" indent="-285750">
              <a:buFont typeface="Arial" panose="020B0604020202020204" pitchFamily="34" charset="0"/>
              <a:buChar char="•"/>
            </a:pPr>
            <a:r>
              <a:rPr lang="en-US" sz="1600">
                <a:solidFill>
                  <a:schemeClr val="bg1"/>
                </a:solidFill>
              </a:rPr>
              <a:t>This threshold balances detecting novel threats while minimizing false positives</a:t>
            </a:r>
          </a:p>
          <a:p>
            <a:pPr marL="285750" indent="-285750">
              <a:buFont typeface="Arial" panose="020B0604020202020204" pitchFamily="34" charset="0"/>
              <a:buChar char="•"/>
            </a:pPr>
            <a:endParaRPr lang="en-US" sz="1600">
              <a:solidFill>
                <a:schemeClr val="bg1"/>
              </a:solidFill>
            </a:endParaRPr>
          </a:p>
          <a:p>
            <a:pPr marL="285750" indent="-285750">
              <a:buFont typeface="Arial" panose="020B0604020202020204" pitchFamily="34" charset="0"/>
              <a:buChar char="•"/>
            </a:pPr>
            <a:r>
              <a:rPr lang="en-US" sz="1600">
                <a:solidFill>
                  <a:schemeClr val="bg1"/>
                </a:solidFill>
              </a:rPr>
              <a:t>Samples between the </a:t>
            </a:r>
            <a:r>
              <a:rPr lang="en-US" sz="1600" b="1">
                <a:solidFill>
                  <a:schemeClr val="bg1"/>
                </a:solidFill>
              </a:rPr>
              <a:t>Benign Threshold </a:t>
            </a:r>
            <a:r>
              <a:rPr lang="en-US" sz="1600">
                <a:solidFill>
                  <a:schemeClr val="bg1"/>
                </a:solidFill>
              </a:rPr>
              <a:t>and the </a:t>
            </a:r>
            <a:r>
              <a:rPr lang="en-US" sz="1600" b="1">
                <a:solidFill>
                  <a:schemeClr val="bg1"/>
                </a:solidFill>
              </a:rPr>
              <a:t>Zero-day Threshold </a:t>
            </a:r>
            <a:r>
              <a:rPr lang="en-US" sz="1600">
                <a:solidFill>
                  <a:schemeClr val="bg1"/>
                </a:solidFill>
              </a:rPr>
              <a:t>are considered benign.</a:t>
            </a:r>
          </a:p>
          <a:p>
            <a:pPr marL="285750" indent="-285750">
              <a:buFont typeface="Arial" panose="020B0604020202020204" pitchFamily="34" charset="0"/>
              <a:buChar char="•"/>
            </a:pPr>
            <a:endParaRPr lang="en-US" sz="1600">
              <a:solidFill>
                <a:schemeClr val="bg1"/>
              </a:solidFill>
            </a:endParaRPr>
          </a:p>
        </p:txBody>
      </p:sp>
    </p:spTree>
    <p:extLst>
      <p:ext uri="{BB962C8B-B14F-4D97-AF65-F5344CB8AC3E}">
        <p14:creationId xmlns:p14="http://schemas.microsoft.com/office/powerpoint/2010/main" val="731296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6394F-0B70-F702-7834-319A9213E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B8594-2996-2788-1B28-012AF7B4C0A9}"/>
              </a:ext>
            </a:extLst>
          </p:cNvPr>
          <p:cNvSpPr>
            <a:spLocks noGrp="1"/>
          </p:cNvSpPr>
          <p:nvPr>
            <p:ph type="title"/>
          </p:nvPr>
        </p:nvSpPr>
        <p:spPr>
          <a:xfrm>
            <a:off x="680321" y="753228"/>
            <a:ext cx="9613861" cy="1080938"/>
          </a:xfrm>
        </p:spPr>
        <p:txBody>
          <a:bodyPr>
            <a:normAutofit/>
          </a:bodyPr>
          <a:lstStyle/>
          <a:p>
            <a:r>
              <a:rPr lang="en-US" b="1"/>
              <a:t>Intrusion Detection System</a:t>
            </a:r>
          </a:p>
        </p:txBody>
      </p:sp>
      <p:sp>
        <p:nvSpPr>
          <p:cNvPr id="4" name="Content Placeholder 3">
            <a:extLst>
              <a:ext uri="{FF2B5EF4-FFF2-40B4-BE49-F238E27FC236}">
                <a16:creationId xmlns:a16="http://schemas.microsoft.com/office/drawing/2014/main" id="{B03DB7D2-FE12-D248-E0AA-8078FD502B25}"/>
              </a:ext>
            </a:extLst>
          </p:cNvPr>
          <p:cNvSpPr>
            <a:spLocks noGrp="1"/>
          </p:cNvSpPr>
          <p:nvPr>
            <p:ph idx="1"/>
          </p:nvPr>
        </p:nvSpPr>
        <p:spPr>
          <a:xfrm>
            <a:off x="582351" y="2143492"/>
            <a:ext cx="6401923" cy="4231182"/>
          </a:xfrm>
        </p:spPr>
        <p:txBody>
          <a:bodyPr>
            <a:noAutofit/>
          </a:bodyPr>
          <a:lstStyle/>
          <a:p>
            <a:pPr marL="0" indent="0">
              <a:lnSpc>
                <a:spcPct val="150000"/>
              </a:lnSpc>
              <a:buNone/>
            </a:pPr>
            <a:r>
              <a:rPr lang="en-US" b="1">
                <a:solidFill>
                  <a:schemeClr val="bg1">
                    <a:lumMod val="85000"/>
                    <a:lumOff val="15000"/>
                  </a:schemeClr>
                </a:solidFill>
              </a:rPr>
              <a:t>Stage 3 of IDS: Zero Day Attack Classifier</a:t>
            </a:r>
          </a:p>
          <a:p>
            <a:pPr>
              <a:lnSpc>
                <a:spcPct val="100000"/>
              </a:lnSpc>
            </a:pPr>
            <a:r>
              <a:rPr lang="en-US" sz="1600" b="1">
                <a:solidFill>
                  <a:schemeClr val="bg1"/>
                </a:solidFill>
              </a:rPr>
              <a:t>Finding the Optimal Zero-day Threshold:</a:t>
            </a:r>
          </a:p>
          <a:p>
            <a:pPr lvl="1">
              <a:lnSpc>
                <a:spcPct val="100000"/>
              </a:lnSpc>
            </a:pPr>
            <a:r>
              <a:rPr lang="en-US" sz="1600">
                <a:solidFill>
                  <a:schemeClr val="bg1"/>
                </a:solidFill>
              </a:rPr>
              <a:t>During training, various quantiles of benign data are tested to identify the optimal Zero-Day Threshold. Quantiles divide data into equal portions; for instance, the 0.99 quantile represents the value below which 99% of the data points lie.</a:t>
            </a:r>
          </a:p>
          <a:p>
            <a:pPr lvl="1">
              <a:lnSpc>
                <a:spcPct val="100000"/>
              </a:lnSpc>
            </a:pPr>
            <a:r>
              <a:rPr lang="en-US" sz="1600">
                <a:solidFill>
                  <a:schemeClr val="bg1"/>
                </a:solidFill>
              </a:rPr>
              <a:t>The quantile that provides the highest accuracy in distinguishing between known and unknown data is selected as the Zero-Day Threshold</a:t>
            </a:r>
          </a:p>
          <a:p>
            <a:pPr marL="457200" lvl="1" indent="0">
              <a:lnSpc>
                <a:spcPct val="100000"/>
              </a:lnSpc>
              <a:buNone/>
            </a:pPr>
            <a:endParaRPr lang="en-US" sz="1600">
              <a:solidFill>
                <a:schemeClr val="bg1"/>
              </a:solidFill>
            </a:endParaRPr>
          </a:p>
          <a:p>
            <a:pPr marL="0" indent="0">
              <a:lnSpc>
                <a:spcPct val="100000"/>
              </a:lnSpc>
              <a:buNone/>
            </a:pPr>
            <a:r>
              <a:rPr lang="en-US" sz="1600" b="1">
                <a:solidFill>
                  <a:schemeClr val="bg1"/>
                </a:solidFill>
              </a:rPr>
              <a:t>Confusion Matrix with Zero Day Threshold in Stage 3:</a:t>
            </a:r>
          </a:p>
          <a:p>
            <a:pPr>
              <a:lnSpc>
                <a:spcPct val="100000"/>
              </a:lnSpc>
            </a:pPr>
            <a:r>
              <a:rPr lang="en-US" sz="1600">
                <a:solidFill>
                  <a:schemeClr val="bg1"/>
                </a:solidFill>
              </a:rPr>
              <a:t>All benign data misclassified in Stage 1 is accurately identified and corrected in Stage 3</a:t>
            </a:r>
          </a:p>
        </p:txBody>
      </p:sp>
      <p:pic>
        <p:nvPicPr>
          <p:cNvPr id="9" name="Picture 8" descr="A screenshot of a computer screen&#10;&#10;Description automatically generated">
            <a:extLst>
              <a:ext uri="{FF2B5EF4-FFF2-40B4-BE49-F238E27FC236}">
                <a16:creationId xmlns:a16="http://schemas.microsoft.com/office/drawing/2014/main" id="{D7105A1B-6839-0286-1FFA-FC5543E6BA30}"/>
              </a:ext>
            </a:extLst>
          </p:cNvPr>
          <p:cNvPicPr>
            <a:picLocks noChangeAspect="1"/>
          </p:cNvPicPr>
          <p:nvPr/>
        </p:nvPicPr>
        <p:blipFill>
          <a:blip r:embed="rId3"/>
          <a:stretch>
            <a:fillRect/>
          </a:stretch>
        </p:blipFill>
        <p:spPr>
          <a:xfrm>
            <a:off x="7412388" y="2423829"/>
            <a:ext cx="4197261" cy="4304136"/>
          </a:xfrm>
          <a:prstGeom prst="rect">
            <a:avLst/>
          </a:prstGeom>
        </p:spPr>
      </p:pic>
    </p:spTree>
    <p:extLst>
      <p:ext uri="{BB962C8B-B14F-4D97-AF65-F5344CB8AC3E}">
        <p14:creationId xmlns:p14="http://schemas.microsoft.com/office/powerpoint/2010/main" val="64069373"/>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Berlin</Template>
  <TotalTime>0</TotalTime>
  <Words>1089</Words>
  <Application>Microsoft Macintosh PowerPoint</Application>
  <PresentationFormat>Widescreen</PresentationFormat>
  <Paragraphs>126</Paragraphs>
  <Slides>13</Slides>
  <Notes>12</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Trebuchet MS</vt:lpstr>
      <vt:lpstr>Berlin</vt:lpstr>
      <vt:lpstr>AI-Based Intrusion Detection System  Gokul Athikavil Shaji Saathvika Prasad</vt:lpstr>
      <vt:lpstr>Introduction</vt:lpstr>
      <vt:lpstr>Intrusion Detection System</vt:lpstr>
      <vt:lpstr>Intrusion Detection System</vt:lpstr>
      <vt:lpstr>Intrusion Detection System</vt:lpstr>
      <vt:lpstr>Intrusion Detection System</vt:lpstr>
      <vt:lpstr>Intrusion Detection System</vt:lpstr>
      <vt:lpstr>Intrusion Detection System</vt:lpstr>
      <vt:lpstr>Intrusion Detection System</vt:lpstr>
      <vt:lpstr>Intrusion Detection System</vt:lpstr>
      <vt:lpstr>Intrusion Detection System</vt:lpstr>
      <vt:lpstr>Intrusion Detection System</vt:lpstr>
      <vt:lpstr>Intrusion Detection System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Gokul Shaji</cp:lastModifiedBy>
  <cp:revision>3</cp:revision>
  <cp:lastPrinted>2025-01-17T14:14:22Z</cp:lastPrinted>
  <dcterms:created xsi:type="dcterms:W3CDTF">2013-01-27T09:14:16Z</dcterms:created>
  <dcterms:modified xsi:type="dcterms:W3CDTF">2025-02-09T22:48:46Z</dcterms:modified>
  <cp:category/>
</cp:coreProperties>
</file>